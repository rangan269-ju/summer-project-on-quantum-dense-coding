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Canva Sans Bold" charset="1" panose="020B0803030501040103"/>
      <p:regular r:id="rId35"/>
    </p:embeddedFont>
    <p:embeddedFont>
      <p:font typeface="DM Sans Bold" charset="1" panose="00000000000000000000"/>
      <p:regular r:id="rId36"/>
    </p:embeddedFont>
    <p:embeddedFont>
      <p:font typeface="Playfair Display" charset="1" panose="00000000000000000000"/>
      <p:regular r:id="rId37"/>
    </p:embeddedFont>
    <p:embeddedFont>
      <p:font typeface="Canva Sans" charset="1" panose="020B0503030501040103"/>
      <p:regular r:id="rId38"/>
    </p:embeddedFont>
    <p:embeddedFont>
      <p:font typeface="Archivo Black" charset="1" panose="020B0A03020202020B04"/>
      <p:regular r:id="rId39"/>
    </p:embeddedFont>
    <p:embeddedFont>
      <p:font typeface="Proxima Nova Bold" charset="1" panose="020005060300000200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jpe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jpe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jpe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jpe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jpe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png" Type="http://schemas.openxmlformats.org/officeDocument/2006/relationships/image"/><Relationship Id="rId12" Target="../media/image43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png" Type="http://schemas.openxmlformats.org/officeDocument/2006/relationships/image"/><Relationship Id="rId12" Target="../media/image47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png" Type="http://schemas.openxmlformats.org/officeDocument/2006/relationships/image"/><Relationship Id="rId12" Target="../media/image51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png" Type="http://schemas.openxmlformats.org/officeDocument/2006/relationships/image"/><Relationship Id="rId12" Target="../media/image55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12" Target="../media/image59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3.png" Type="http://schemas.openxmlformats.org/officeDocument/2006/relationships/image"/><Relationship Id="rId5" Target="../media/image64.png" Type="http://schemas.openxmlformats.org/officeDocument/2006/relationships/image"/><Relationship Id="rId6" Target="../media/image6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https://qiskit.org" TargetMode="External" Type="http://schemas.openxmlformats.org/officeDocument/2006/relationships/hyperlink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22539" y="2298614"/>
            <a:ext cx="13242922" cy="2136335"/>
            <a:chOff x="0" y="0"/>
            <a:chExt cx="3487848" cy="5626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87848" cy="562656"/>
            </a:xfrm>
            <a:custGeom>
              <a:avLst/>
              <a:gdLst/>
              <a:ahLst/>
              <a:cxnLst/>
              <a:rect r="r" b="b" t="t" l="l"/>
              <a:pathLst>
                <a:path h="562656" w="3487848">
                  <a:moveTo>
                    <a:pt x="29815" y="0"/>
                  </a:moveTo>
                  <a:lnTo>
                    <a:pt x="3458033" y="0"/>
                  </a:lnTo>
                  <a:cubicBezTo>
                    <a:pt x="3474499" y="0"/>
                    <a:pt x="3487848" y="13349"/>
                    <a:pt x="3487848" y="29815"/>
                  </a:cubicBezTo>
                  <a:lnTo>
                    <a:pt x="3487848" y="532841"/>
                  </a:lnTo>
                  <a:cubicBezTo>
                    <a:pt x="3487848" y="540749"/>
                    <a:pt x="3484706" y="548332"/>
                    <a:pt x="3479115" y="553924"/>
                  </a:cubicBezTo>
                  <a:cubicBezTo>
                    <a:pt x="3473524" y="559515"/>
                    <a:pt x="3465940" y="562656"/>
                    <a:pt x="3458033" y="562656"/>
                  </a:cubicBezTo>
                  <a:lnTo>
                    <a:pt x="29815" y="562656"/>
                  </a:lnTo>
                  <a:cubicBezTo>
                    <a:pt x="21908" y="562656"/>
                    <a:pt x="14324" y="559515"/>
                    <a:pt x="8733" y="553924"/>
                  </a:cubicBezTo>
                  <a:cubicBezTo>
                    <a:pt x="3141" y="548332"/>
                    <a:pt x="0" y="540749"/>
                    <a:pt x="0" y="532841"/>
                  </a:cubicBezTo>
                  <a:lnTo>
                    <a:pt x="0" y="29815"/>
                  </a:lnTo>
                  <a:cubicBezTo>
                    <a:pt x="0" y="21908"/>
                    <a:pt x="3141" y="14324"/>
                    <a:pt x="8733" y="8733"/>
                  </a:cubicBezTo>
                  <a:cubicBezTo>
                    <a:pt x="14324" y="3141"/>
                    <a:pt x="21908" y="0"/>
                    <a:pt x="29815" y="0"/>
                  </a:cubicBezTo>
                  <a:close/>
                </a:path>
              </a:pathLst>
            </a:custGeom>
            <a:solidFill>
              <a:srgbClr val="3100F5">
                <a:alpha val="4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487848" cy="610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257008"/>
            <a:ext cx="1543384" cy="1543384"/>
          </a:xfrm>
          <a:custGeom>
            <a:avLst/>
            <a:gdLst/>
            <a:ahLst/>
            <a:cxnLst/>
            <a:rect r="r" b="b" t="t" l="l"/>
            <a:pathLst>
              <a:path h="1543384" w="1543384">
                <a:moveTo>
                  <a:pt x="0" y="0"/>
                </a:moveTo>
                <a:lnTo>
                  <a:pt x="1543384" y="0"/>
                </a:lnTo>
                <a:lnTo>
                  <a:pt x="1543384" y="1543384"/>
                </a:lnTo>
                <a:lnTo>
                  <a:pt x="0" y="15433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67747" y="0"/>
            <a:ext cx="2298614" cy="2298614"/>
          </a:xfrm>
          <a:custGeom>
            <a:avLst/>
            <a:gdLst/>
            <a:ahLst/>
            <a:cxnLst/>
            <a:rect r="r" b="b" t="t" l="l"/>
            <a:pathLst>
              <a:path h="2298614" w="2298614">
                <a:moveTo>
                  <a:pt x="0" y="0"/>
                </a:moveTo>
                <a:lnTo>
                  <a:pt x="2298614" y="0"/>
                </a:lnTo>
                <a:lnTo>
                  <a:pt x="2298614" y="2298614"/>
                </a:lnTo>
                <a:lnTo>
                  <a:pt x="0" y="229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735558" y="293447"/>
            <a:ext cx="7166201" cy="139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4"/>
              </a:lnSpc>
            </a:pPr>
            <a:r>
              <a:rPr lang="en-US" sz="402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Summer Internship Program </a:t>
            </a:r>
          </a:p>
          <a:p>
            <a:pPr algn="ctr">
              <a:lnSpc>
                <a:spcPts val="5634"/>
              </a:lnSpc>
            </a:pPr>
            <a:r>
              <a:rPr lang="en-US" sz="402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IISER Bhopal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39247" y="2422204"/>
            <a:ext cx="13005205" cy="182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3471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Quantum Dense Coding Using Bipartite and Multipartite Entangled States Over Noiseless and Noisy Quantum Channels: An IBM Quantum Experience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47479" y="4616053"/>
            <a:ext cx="7793042" cy="2031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291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Submitte</a:t>
            </a:r>
            <a:r>
              <a:rPr lang="en-US" sz="291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 by </a:t>
            </a:r>
          </a:p>
          <a:p>
            <a:pPr algn="ctr">
              <a:lnSpc>
                <a:spcPts val="4073"/>
              </a:lnSpc>
            </a:pPr>
            <a:r>
              <a:rPr lang="en-US" sz="291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Rangan Chakrabarty </a:t>
            </a:r>
          </a:p>
          <a:p>
            <a:pPr algn="ctr">
              <a:lnSpc>
                <a:spcPts val="4073"/>
              </a:lnSpc>
            </a:pPr>
            <a:r>
              <a:rPr lang="en-US" sz="291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UG-IV, Department of Physics, </a:t>
            </a:r>
          </a:p>
          <a:p>
            <a:pPr algn="ctr">
              <a:lnSpc>
                <a:spcPts val="4073"/>
              </a:lnSpc>
            </a:pPr>
            <a:r>
              <a:rPr lang="en-US" sz="291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Jadavpur University, Kolkata-700032, India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79682" y="7018639"/>
            <a:ext cx="11124335" cy="2550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8"/>
              </a:lnSpc>
              <a:spcBef>
                <a:spcPct val="0"/>
              </a:spcBef>
            </a:pPr>
            <a:r>
              <a:rPr lang="en-US" sz="291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Under the Supervision of </a:t>
            </a:r>
          </a:p>
          <a:p>
            <a:pPr algn="ctr">
              <a:lnSpc>
                <a:spcPts val="4078"/>
              </a:lnSpc>
              <a:spcBef>
                <a:spcPct val="0"/>
              </a:spcBef>
            </a:pPr>
            <a:r>
              <a:rPr lang="en-US" sz="291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Supervisor: Prof. Kuntal Roy </a:t>
            </a:r>
          </a:p>
          <a:p>
            <a:pPr algn="ctr">
              <a:lnSpc>
                <a:spcPts val="4078"/>
              </a:lnSpc>
              <a:spcBef>
                <a:spcPct val="0"/>
              </a:spcBef>
            </a:pPr>
            <a:r>
              <a:rPr lang="en-US" sz="291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Department of Electrical Engineering And Computer Science </a:t>
            </a:r>
          </a:p>
          <a:p>
            <a:pPr algn="ctr">
              <a:lnSpc>
                <a:spcPts val="4078"/>
              </a:lnSpc>
              <a:spcBef>
                <a:spcPct val="0"/>
              </a:spcBef>
            </a:pPr>
            <a:r>
              <a:rPr lang="en-US" sz="291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Indian Institute of Science Education and Research (IISER) Bhopal, </a:t>
            </a:r>
          </a:p>
          <a:p>
            <a:pPr algn="ctr">
              <a:lnSpc>
                <a:spcPts val="4078"/>
              </a:lnSpc>
              <a:spcBef>
                <a:spcPct val="0"/>
              </a:spcBef>
            </a:pPr>
            <a:r>
              <a:rPr lang="en-US" sz="291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Bhopal-462066, India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2233" y="656645"/>
            <a:ext cx="14756970" cy="1445526"/>
            <a:chOff x="0" y="0"/>
            <a:chExt cx="3886609" cy="380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86609" cy="380715"/>
            </a:xfrm>
            <a:custGeom>
              <a:avLst/>
              <a:gdLst/>
              <a:ahLst/>
              <a:cxnLst/>
              <a:rect r="r" b="b" t="t" l="l"/>
              <a:pathLst>
                <a:path h="380715" w="3886609">
                  <a:moveTo>
                    <a:pt x="26756" y="0"/>
                  </a:moveTo>
                  <a:lnTo>
                    <a:pt x="3859853" y="0"/>
                  </a:lnTo>
                  <a:cubicBezTo>
                    <a:pt x="3866949" y="0"/>
                    <a:pt x="3873755" y="2819"/>
                    <a:pt x="3878773" y="7837"/>
                  </a:cubicBezTo>
                  <a:cubicBezTo>
                    <a:pt x="3883790" y="12854"/>
                    <a:pt x="3886609" y="19660"/>
                    <a:pt x="3886609" y="26756"/>
                  </a:cubicBezTo>
                  <a:lnTo>
                    <a:pt x="3886609" y="353959"/>
                  </a:lnTo>
                  <a:cubicBezTo>
                    <a:pt x="3886609" y="361055"/>
                    <a:pt x="3883790" y="367860"/>
                    <a:pt x="3878773" y="372878"/>
                  </a:cubicBezTo>
                  <a:cubicBezTo>
                    <a:pt x="3873755" y="377896"/>
                    <a:pt x="3866949" y="380715"/>
                    <a:pt x="3859853" y="380715"/>
                  </a:cubicBezTo>
                  <a:lnTo>
                    <a:pt x="26756" y="380715"/>
                  </a:lnTo>
                  <a:cubicBezTo>
                    <a:pt x="19660" y="380715"/>
                    <a:pt x="12854" y="377896"/>
                    <a:pt x="7837" y="372878"/>
                  </a:cubicBezTo>
                  <a:cubicBezTo>
                    <a:pt x="2819" y="367860"/>
                    <a:pt x="0" y="361055"/>
                    <a:pt x="0" y="353959"/>
                  </a:cubicBezTo>
                  <a:lnTo>
                    <a:pt x="0" y="26756"/>
                  </a:lnTo>
                  <a:cubicBezTo>
                    <a:pt x="0" y="19660"/>
                    <a:pt x="2819" y="12854"/>
                    <a:pt x="7837" y="7837"/>
                  </a:cubicBezTo>
                  <a:cubicBezTo>
                    <a:pt x="12854" y="2819"/>
                    <a:pt x="19660" y="0"/>
                    <a:pt x="2675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3886609" cy="475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79"/>
                </a:lnSpc>
              </a:pPr>
              <a:r>
                <a:rPr lang="en-US" sz="51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Objectives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14120" y="9940291"/>
            <a:ext cx="5097860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3400" y="2202522"/>
            <a:ext cx="17259300" cy="760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0613" indent="-290306" lvl="1">
              <a:lnSpc>
                <a:spcPts val="3764"/>
              </a:lnSpc>
              <a:buFont typeface="Arial"/>
              <a:buChar char="•"/>
            </a:pPr>
            <a:r>
              <a:rPr lang="en-US" sz="26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investigate quantum dense coding (QDC) protocols using different entangled quantum states for classical information transmission.</a:t>
            </a:r>
          </a:p>
          <a:p>
            <a:pPr algn="just" marL="580613" indent="-290306" lvl="1">
              <a:lnSpc>
                <a:spcPts val="3764"/>
              </a:lnSpc>
              <a:buFont typeface="Arial"/>
              <a:buChar char="•"/>
            </a:pPr>
            <a:r>
              <a:rPr lang="en-US" sz="26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perform a comparative analysis of dense coding protocols employing various multipartite entangled channels.</a:t>
            </a:r>
          </a:p>
          <a:p>
            <a:pPr algn="just" marL="580613" indent="-290306" lvl="1">
              <a:lnSpc>
                <a:spcPts val="3764"/>
              </a:lnSpc>
              <a:buFont typeface="Arial"/>
              <a:buChar char="•"/>
            </a:pPr>
            <a:r>
              <a:rPr lang="en-US" sz="26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analyze the theoretical performance of the considered protocols under ideal (noise-free) quantum communication environments.</a:t>
            </a:r>
          </a:p>
          <a:p>
            <a:pPr algn="just" marL="580613" indent="-290306" lvl="1">
              <a:lnSpc>
                <a:spcPts val="3764"/>
              </a:lnSpc>
              <a:buFont typeface="Arial"/>
              <a:buChar char="•"/>
            </a:pPr>
            <a:r>
              <a:rPr lang="en-US" sz="26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evaluate key performance metrics, including communication capacity, state fidelity, circuit depth, quantum cost, and gate complexity.</a:t>
            </a:r>
          </a:p>
          <a:p>
            <a:pPr algn="just" marL="580613" indent="-290306" lvl="1">
              <a:lnSpc>
                <a:spcPts val="3764"/>
              </a:lnSpc>
              <a:buFont typeface="Arial"/>
              <a:buChar char="•"/>
            </a:pPr>
            <a:r>
              <a:rPr lang="en-US" sz="26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investigate the robustness of different QDC protocols under realistic Pauli noise models, including bit-flip, phase-flip, and bit-phase-flip channels.</a:t>
            </a:r>
          </a:p>
          <a:p>
            <a:pPr algn="just" marL="580613" indent="-290306" lvl="1">
              <a:lnSpc>
                <a:spcPts val="3764"/>
              </a:lnSpc>
              <a:buFont typeface="Arial"/>
              <a:buChar char="•"/>
            </a:pPr>
            <a:r>
              <a:rPr lang="en-US" sz="26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compare the strengths and limitations of different entangled channels based on their communication efficiency, robustness against noise, and implementation complexity.</a:t>
            </a:r>
          </a:p>
          <a:p>
            <a:pPr algn="just" marL="580613" indent="-290306" lvl="1">
              <a:lnSpc>
                <a:spcPts val="3764"/>
              </a:lnSpc>
              <a:buFont typeface="Arial"/>
              <a:buChar char="•"/>
            </a:pPr>
            <a:r>
              <a:rPr lang="en-US" sz="26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validate the analytical results through Qiskit-based simulations and verify the agreement between theoretical predictions and simulation outcomes.</a:t>
            </a:r>
          </a:p>
          <a:p>
            <a:pPr algn="just" marL="580613" indent="-290306" lvl="1">
              <a:lnSpc>
                <a:spcPts val="3764"/>
              </a:lnSpc>
              <a:buFont typeface="Arial"/>
              <a:buChar char="•"/>
            </a:pPr>
            <a:r>
              <a:rPr lang="en-US" sz="26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study the impact of circuit depth and gate complexity on the practical performance of quantum dense coding protocols.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0230" y="3566886"/>
            <a:ext cx="17045640" cy="2456108"/>
            <a:chOff x="0" y="0"/>
            <a:chExt cx="4489387" cy="6468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89387" cy="646876"/>
            </a:xfrm>
            <a:custGeom>
              <a:avLst/>
              <a:gdLst/>
              <a:ahLst/>
              <a:cxnLst/>
              <a:rect r="r" b="b" t="t" l="l"/>
              <a:pathLst>
                <a:path h="646876" w="4489387">
                  <a:moveTo>
                    <a:pt x="23164" y="0"/>
                  </a:moveTo>
                  <a:lnTo>
                    <a:pt x="4466223" y="0"/>
                  </a:lnTo>
                  <a:cubicBezTo>
                    <a:pt x="4479016" y="0"/>
                    <a:pt x="4489387" y="10371"/>
                    <a:pt x="4489387" y="23164"/>
                  </a:cubicBezTo>
                  <a:lnTo>
                    <a:pt x="4489387" y="623713"/>
                  </a:lnTo>
                  <a:cubicBezTo>
                    <a:pt x="4489387" y="629856"/>
                    <a:pt x="4486946" y="635748"/>
                    <a:pt x="4482602" y="640092"/>
                  </a:cubicBezTo>
                  <a:cubicBezTo>
                    <a:pt x="4478258" y="644436"/>
                    <a:pt x="4472367" y="646876"/>
                    <a:pt x="4466223" y="646876"/>
                  </a:cubicBezTo>
                  <a:lnTo>
                    <a:pt x="23164" y="646876"/>
                  </a:lnTo>
                  <a:cubicBezTo>
                    <a:pt x="17020" y="646876"/>
                    <a:pt x="11128" y="644436"/>
                    <a:pt x="6784" y="640092"/>
                  </a:cubicBezTo>
                  <a:cubicBezTo>
                    <a:pt x="2440" y="635748"/>
                    <a:pt x="0" y="629856"/>
                    <a:pt x="0" y="623713"/>
                  </a:cubicBezTo>
                  <a:lnTo>
                    <a:pt x="0" y="23164"/>
                  </a:lnTo>
                  <a:cubicBezTo>
                    <a:pt x="0" y="17020"/>
                    <a:pt x="2440" y="11128"/>
                    <a:pt x="6784" y="6784"/>
                  </a:cubicBezTo>
                  <a:cubicBezTo>
                    <a:pt x="11128" y="2440"/>
                    <a:pt x="17020" y="0"/>
                    <a:pt x="2316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489387" cy="694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89594" y="3433536"/>
            <a:ext cx="11908812" cy="2422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7"/>
              </a:lnSpc>
            </a:pPr>
            <a:r>
              <a:rPr lang="en-US" sz="697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Chapter-I</a:t>
            </a:r>
          </a:p>
          <a:p>
            <a:pPr algn="ctr">
              <a:lnSpc>
                <a:spcPts val="9767"/>
              </a:lnSpc>
              <a:spcBef>
                <a:spcPct val="0"/>
              </a:spcBef>
            </a:pPr>
            <a:r>
              <a:rPr lang="en-US" b="true" sz="697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Backg</a:t>
            </a:r>
            <a:r>
              <a:rPr lang="en-US" b="true" sz="697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round &amp; Preliminaries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614120" y="9940291"/>
            <a:ext cx="5097860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310902"/>
            <a:ext cx="17714905" cy="302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5932" indent="-372966" lvl="1">
              <a:lnSpc>
                <a:spcPts val="4836"/>
              </a:lnSpc>
              <a:buFont typeface="Arial"/>
              <a:buChar char="•"/>
            </a:pPr>
            <a:r>
              <a:rPr lang="en-US" b="true" sz="34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34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ntanglement and it’s classificat</a:t>
            </a:r>
            <a:r>
              <a:rPr lang="en-US" b="true" sz="34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34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</a:t>
            </a:r>
          </a:p>
          <a:p>
            <a:pPr algn="l" marL="745932" indent="-372966" lvl="1">
              <a:lnSpc>
                <a:spcPts val="4836"/>
              </a:lnSpc>
              <a:buFont typeface="Arial"/>
              <a:buChar char="•"/>
            </a:pPr>
            <a:r>
              <a:rPr lang="en-US" b="true" sz="34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Entangled quantum channels</a:t>
            </a:r>
          </a:p>
          <a:p>
            <a:pPr algn="l" marL="745932" indent="-372966" lvl="1">
              <a:lnSpc>
                <a:spcPts val="4836"/>
              </a:lnSpc>
              <a:buFont typeface="Arial"/>
              <a:buChar char="•"/>
            </a:pPr>
            <a:r>
              <a:rPr lang="en-US" b="true" sz="34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Density matrix formalism</a:t>
            </a:r>
          </a:p>
          <a:p>
            <a:pPr algn="l" marL="745932" indent="-372966" lvl="1">
              <a:lnSpc>
                <a:spcPts val="4836"/>
              </a:lnSpc>
              <a:buFont typeface="Arial"/>
              <a:buChar char="•"/>
            </a:pPr>
            <a:r>
              <a:rPr lang="en-US" b="true" sz="34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metrics for quantum dense coding</a:t>
            </a:r>
          </a:p>
          <a:p>
            <a:pPr algn="l">
              <a:lnSpc>
                <a:spcPts val="4836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3503320" y="176778"/>
            <a:ext cx="11281359" cy="1051613"/>
            <a:chOff x="0" y="0"/>
            <a:chExt cx="2971222" cy="2769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71222" cy="276968"/>
            </a:xfrm>
            <a:custGeom>
              <a:avLst/>
              <a:gdLst/>
              <a:ahLst/>
              <a:cxnLst/>
              <a:rect r="r" b="b" t="t" l="l"/>
              <a:pathLst>
                <a:path h="276968" w="2971222">
                  <a:moveTo>
                    <a:pt x="34999" y="0"/>
                  </a:moveTo>
                  <a:lnTo>
                    <a:pt x="2936223" y="0"/>
                  </a:lnTo>
                  <a:cubicBezTo>
                    <a:pt x="2955553" y="0"/>
                    <a:pt x="2971222" y="15670"/>
                    <a:pt x="2971222" y="34999"/>
                  </a:cubicBezTo>
                  <a:lnTo>
                    <a:pt x="2971222" y="241969"/>
                  </a:lnTo>
                  <a:cubicBezTo>
                    <a:pt x="2971222" y="261298"/>
                    <a:pt x="2955553" y="276968"/>
                    <a:pt x="2936223" y="276968"/>
                  </a:cubicBezTo>
                  <a:lnTo>
                    <a:pt x="34999" y="276968"/>
                  </a:lnTo>
                  <a:cubicBezTo>
                    <a:pt x="15670" y="276968"/>
                    <a:pt x="0" y="261298"/>
                    <a:pt x="0" y="241969"/>
                  </a:cubicBezTo>
                  <a:lnTo>
                    <a:pt x="0" y="34999"/>
                  </a:lnTo>
                  <a:cubicBezTo>
                    <a:pt x="0" y="15670"/>
                    <a:pt x="15670" y="0"/>
                    <a:pt x="34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971222" cy="324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188148" y="266151"/>
            <a:ext cx="7911703" cy="78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9"/>
              </a:lnSpc>
              <a:spcBef>
                <a:spcPct val="0"/>
              </a:spcBef>
            </a:pP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Backg</a:t>
            </a: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round &amp; Preliminaries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614120" y="9940291"/>
            <a:ext cx="5097860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AutoShape 12" id="12"/>
          <p:cNvSpPr/>
          <p:nvPr/>
        </p:nvSpPr>
        <p:spPr>
          <a:xfrm flipH="true">
            <a:off x="4706901" y="3821435"/>
            <a:ext cx="0" cy="9900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4706623" y="4773377"/>
            <a:ext cx="130691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6013541" y="3764285"/>
            <a:ext cx="5728196" cy="427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7268" indent="-293634" lvl="1">
              <a:lnSpc>
                <a:spcPts val="3808"/>
              </a:lnSpc>
              <a:buFont typeface="Arial"/>
              <a:buChar char="•"/>
            </a:pPr>
            <a:r>
              <a:rPr lang="en-US" sz="27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7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ense coding capacity</a:t>
            </a:r>
          </a:p>
          <a:p>
            <a:pPr algn="l" marL="587268" indent="-293634" lvl="1">
              <a:lnSpc>
                <a:spcPts val="3808"/>
              </a:lnSpc>
              <a:buFont typeface="Arial"/>
              <a:buChar char="•"/>
            </a:pPr>
            <a:r>
              <a:rPr lang="en-US" sz="27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Schmidt Decomposition</a:t>
            </a:r>
          </a:p>
          <a:p>
            <a:pPr algn="l" marL="587268" indent="-293634" lvl="1">
              <a:lnSpc>
                <a:spcPts val="3808"/>
              </a:lnSpc>
              <a:buFont typeface="Arial"/>
              <a:buChar char="•"/>
            </a:pPr>
            <a:r>
              <a:rPr lang="en-US" sz="27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Holevo bound</a:t>
            </a:r>
          </a:p>
          <a:p>
            <a:pPr algn="l" marL="587268" indent="-293634" lvl="1">
              <a:lnSpc>
                <a:spcPts val="3808"/>
              </a:lnSpc>
              <a:buFont typeface="Arial"/>
              <a:buChar char="•"/>
            </a:pPr>
            <a:r>
              <a:rPr lang="en-US" sz="27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Output state fidelity</a:t>
            </a:r>
          </a:p>
          <a:p>
            <a:pPr algn="l" marL="587268" indent="-293634" lvl="1">
              <a:lnSpc>
                <a:spcPts val="3808"/>
              </a:lnSpc>
              <a:buFont typeface="Arial"/>
              <a:buChar char="•"/>
            </a:pPr>
            <a:r>
              <a:rPr lang="en-US" sz="27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Channel efficiency</a:t>
            </a:r>
          </a:p>
          <a:p>
            <a:pPr algn="l" marL="587268" indent="-293634" lvl="1">
              <a:lnSpc>
                <a:spcPts val="3808"/>
              </a:lnSpc>
              <a:buFont typeface="Arial"/>
              <a:buChar char="•"/>
            </a:pPr>
            <a:r>
              <a:rPr lang="en-US" sz="27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Robustness of the protocol</a:t>
            </a:r>
          </a:p>
          <a:p>
            <a:pPr algn="l" marL="587268" indent="-293634" lvl="1">
              <a:lnSpc>
                <a:spcPts val="3808"/>
              </a:lnSpc>
              <a:buFont typeface="Arial"/>
              <a:buChar char="•"/>
            </a:pPr>
            <a:r>
              <a:rPr lang="en-US" sz="27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Quantum circuit depth</a:t>
            </a:r>
          </a:p>
          <a:p>
            <a:pPr algn="l" marL="587268" indent="-293634" lvl="1">
              <a:lnSpc>
                <a:spcPts val="3808"/>
              </a:lnSpc>
              <a:buFont typeface="Arial"/>
              <a:buChar char="•"/>
            </a:pPr>
            <a:r>
              <a:rPr lang="en-US" sz="27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Quantum Bit Error Rate (QBER)</a:t>
            </a:r>
          </a:p>
          <a:p>
            <a:pPr algn="l" marL="587268" indent="-293634" lvl="1">
              <a:lnSpc>
                <a:spcPts val="3808"/>
              </a:lnSpc>
              <a:buFont typeface="Arial"/>
              <a:buChar char="•"/>
            </a:pPr>
            <a:r>
              <a:rPr lang="en-US" sz="27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Quantum resource cost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0" y="7902942"/>
            <a:ext cx="6074668" cy="578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9391" indent="-374695" lvl="1">
              <a:lnSpc>
                <a:spcPts val="4859"/>
              </a:lnSpc>
              <a:buFont typeface="Arial"/>
              <a:buChar char="•"/>
            </a:pPr>
            <a:r>
              <a:rPr lang="en-US" b="true" sz="34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Noisy</a:t>
            </a:r>
            <a:r>
              <a:rPr lang="en-US" b="true" sz="34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quantum channels</a:t>
            </a:r>
          </a:p>
        </p:txBody>
      </p:sp>
      <p:sp>
        <p:nvSpPr>
          <p:cNvPr name="AutoShape 16" id="16"/>
          <p:cNvSpPr/>
          <p:nvPr/>
        </p:nvSpPr>
        <p:spPr>
          <a:xfrm flipH="true">
            <a:off x="3635927" y="8481529"/>
            <a:ext cx="19050" cy="49502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3654977" y="8976549"/>
            <a:ext cx="142721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5302843" y="8542358"/>
            <a:ext cx="4173866" cy="1404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0613" indent="-290307" lvl="1">
              <a:lnSpc>
                <a:spcPts val="3764"/>
              </a:lnSpc>
              <a:buFont typeface="Arial"/>
              <a:buChar char="•"/>
            </a:pPr>
            <a:r>
              <a:rPr lang="en-US" sz="26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Bit flip channel</a:t>
            </a:r>
          </a:p>
          <a:p>
            <a:pPr algn="l" marL="580613" indent="-290307" lvl="1">
              <a:lnSpc>
                <a:spcPts val="3764"/>
              </a:lnSpc>
              <a:buFont typeface="Arial"/>
              <a:buChar char="•"/>
            </a:pPr>
            <a:r>
              <a:rPr lang="en-US" sz="26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Phase flip channel</a:t>
            </a:r>
          </a:p>
          <a:p>
            <a:pPr algn="l" marL="580613" indent="-290307" lvl="1">
              <a:lnSpc>
                <a:spcPts val="3764"/>
              </a:lnSpc>
              <a:buFont typeface="Arial"/>
              <a:buChar char="•"/>
            </a:pPr>
            <a:r>
              <a:rPr lang="en-US" sz="26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Bit-phase flip channel</a:t>
            </a:r>
          </a:p>
        </p:txBody>
      </p:sp>
      <p:sp>
        <p:nvSpPr>
          <p:cNvPr name="AutoShape 19" id="19"/>
          <p:cNvSpPr/>
          <p:nvPr/>
        </p:nvSpPr>
        <p:spPr>
          <a:xfrm flipV="true">
            <a:off x="6606365" y="2959706"/>
            <a:ext cx="7846181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4440213" y="2960047"/>
            <a:ext cx="24666" cy="13777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3441398" y="4347686"/>
            <a:ext cx="4273507" cy="134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417" indent="-277708" lvl="1">
              <a:lnSpc>
                <a:spcPts val="3601"/>
              </a:lnSpc>
              <a:buFont typeface="Arial"/>
              <a:buChar char="•"/>
            </a:pPr>
            <a:r>
              <a:rPr lang="en-US" sz="25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Density matrix</a:t>
            </a:r>
          </a:p>
          <a:p>
            <a:pPr algn="l" marL="555417" indent="-277708" lvl="1">
              <a:lnSpc>
                <a:spcPts val="3601"/>
              </a:lnSpc>
              <a:buFont typeface="Arial"/>
              <a:buChar char="•"/>
            </a:pPr>
            <a:r>
              <a:rPr lang="en-US" sz="25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Partial trace</a:t>
            </a:r>
          </a:p>
          <a:p>
            <a:pPr algn="l" marL="555417" indent="-277708" lvl="1">
              <a:lnSpc>
                <a:spcPts val="3601"/>
              </a:lnSpc>
              <a:buFont typeface="Arial"/>
              <a:buChar char="•"/>
            </a:pPr>
            <a:r>
              <a:rPr lang="en-US" sz="25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Reduced density matrix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2980" y="3343827"/>
            <a:ext cx="17221202" cy="3714301"/>
            <a:chOff x="0" y="0"/>
            <a:chExt cx="4535625" cy="9782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5625" cy="978252"/>
            </a:xfrm>
            <a:custGeom>
              <a:avLst/>
              <a:gdLst/>
              <a:ahLst/>
              <a:cxnLst/>
              <a:rect r="r" b="b" t="t" l="l"/>
              <a:pathLst>
                <a:path h="978252" w="4535625">
                  <a:moveTo>
                    <a:pt x="22927" y="0"/>
                  </a:moveTo>
                  <a:lnTo>
                    <a:pt x="4512698" y="0"/>
                  </a:lnTo>
                  <a:cubicBezTo>
                    <a:pt x="4525361" y="0"/>
                    <a:pt x="4535625" y="10265"/>
                    <a:pt x="4535625" y="22927"/>
                  </a:cubicBezTo>
                  <a:lnTo>
                    <a:pt x="4535625" y="955325"/>
                  </a:lnTo>
                  <a:cubicBezTo>
                    <a:pt x="4535625" y="967987"/>
                    <a:pt x="4525361" y="978252"/>
                    <a:pt x="4512698" y="978252"/>
                  </a:cubicBezTo>
                  <a:lnTo>
                    <a:pt x="22927" y="978252"/>
                  </a:lnTo>
                  <a:cubicBezTo>
                    <a:pt x="10265" y="978252"/>
                    <a:pt x="0" y="967987"/>
                    <a:pt x="0" y="955325"/>
                  </a:cubicBezTo>
                  <a:lnTo>
                    <a:pt x="0" y="22927"/>
                  </a:lnTo>
                  <a:cubicBezTo>
                    <a:pt x="0" y="10265"/>
                    <a:pt x="10265" y="0"/>
                    <a:pt x="2292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35625" cy="1025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3289199"/>
            <a:ext cx="17851600" cy="4888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7"/>
              </a:lnSpc>
            </a:pPr>
            <a:r>
              <a:rPr lang="en-US" sz="697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Chapter-II</a:t>
            </a:r>
          </a:p>
          <a:p>
            <a:pPr algn="ctr">
              <a:lnSpc>
                <a:spcPts val="9767"/>
              </a:lnSpc>
            </a:pPr>
            <a:r>
              <a:rPr lang="en-US" sz="697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Quantum dense coding protocols in noiseless environment</a:t>
            </a:r>
          </a:p>
          <a:p>
            <a:pPr algn="ctr">
              <a:lnSpc>
                <a:spcPts val="9767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614120" y="9940291"/>
            <a:ext cx="5097860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355" y="298494"/>
            <a:ext cx="17255731" cy="1051613"/>
            <a:chOff x="0" y="0"/>
            <a:chExt cx="4544719" cy="276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719" cy="276968"/>
            </a:xfrm>
            <a:custGeom>
              <a:avLst/>
              <a:gdLst/>
              <a:ahLst/>
              <a:cxnLst/>
              <a:rect r="r" b="b" t="t" l="l"/>
              <a:pathLst>
                <a:path h="276968" w="4544719">
                  <a:moveTo>
                    <a:pt x="22882" y="0"/>
                  </a:moveTo>
                  <a:lnTo>
                    <a:pt x="4521838" y="0"/>
                  </a:lnTo>
                  <a:cubicBezTo>
                    <a:pt x="4534475" y="0"/>
                    <a:pt x="4544719" y="10244"/>
                    <a:pt x="4544719" y="22882"/>
                  </a:cubicBezTo>
                  <a:lnTo>
                    <a:pt x="4544719" y="254086"/>
                  </a:lnTo>
                  <a:cubicBezTo>
                    <a:pt x="4544719" y="266724"/>
                    <a:pt x="4534475" y="276968"/>
                    <a:pt x="4521838" y="276968"/>
                  </a:cubicBezTo>
                  <a:lnTo>
                    <a:pt x="22882" y="276968"/>
                  </a:lnTo>
                  <a:cubicBezTo>
                    <a:pt x="16813" y="276968"/>
                    <a:pt x="10993" y="274557"/>
                    <a:pt x="6702" y="270266"/>
                  </a:cubicBezTo>
                  <a:cubicBezTo>
                    <a:pt x="2411" y="265975"/>
                    <a:pt x="0" y="260155"/>
                    <a:pt x="0" y="254086"/>
                  </a:cubicBezTo>
                  <a:lnTo>
                    <a:pt x="0" y="22882"/>
                  </a:lnTo>
                  <a:cubicBezTo>
                    <a:pt x="0" y="10244"/>
                    <a:pt x="10244" y="0"/>
                    <a:pt x="2288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44719" cy="324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30243" y="387867"/>
            <a:ext cx="16885047" cy="78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9"/>
              </a:lnSpc>
              <a:spcBef>
                <a:spcPct val="0"/>
              </a:spcBef>
            </a:pP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</a:t>
            </a: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ntum dense coding protocols in noiseless environment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428091" y="1639471"/>
            <a:ext cx="7548816" cy="593137"/>
            <a:chOff x="0" y="0"/>
            <a:chExt cx="1988166" cy="156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88165" cy="156217"/>
            </a:xfrm>
            <a:custGeom>
              <a:avLst/>
              <a:gdLst/>
              <a:ahLst/>
              <a:cxnLst/>
              <a:rect r="r" b="b" t="t" l="l"/>
              <a:pathLst>
                <a:path h="156217" w="1988165">
                  <a:moveTo>
                    <a:pt x="0" y="0"/>
                  </a:moveTo>
                  <a:lnTo>
                    <a:pt x="1988165" y="0"/>
                  </a:lnTo>
                  <a:lnTo>
                    <a:pt x="1988165" y="156217"/>
                  </a:lnTo>
                  <a:lnTo>
                    <a:pt x="0" y="156217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88166" cy="203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8355" y="2421533"/>
            <a:ext cx="4404889" cy="708283"/>
            <a:chOff x="0" y="0"/>
            <a:chExt cx="1160135" cy="1865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0135" cy="186544"/>
            </a:xfrm>
            <a:custGeom>
              <a:avLst/>
              <a:gdLst/>
              <a:ahLst/>
              <a:cxnLst/>
              <a:rect r="r" b="b" t="t" l="l"/>
              <a:pathLst>
                <a:path h="186544" w="1160135">
                  <a:moveTo>
                    <a:pt x="89636" y="0"/>
                  </a:moveTo>
                  <a:lnTo>
                    <a:pt x="1070499" y="0"/>
                  </a:lnTo>
                  <a:cubicBezTo>
                    <a:pt x="1120004" y="0"/>
                    <a:pt x="1160135" y="40132"/>
                    <a:pt x="1160135" y="89636"/>
                  </a:cubicBezTo>
                  <a:lnTo>
                    <a:pt x="1160135" y="96907"/>
                  </a:lnTo>
                  <a:cubicBezTo>
                    <a:pt x="1160135" y="146412"/>
                    <a:pt x="1120004" y="186544"/>
                    <a:pt x="1070499" y="186544"/>
                  </a:cubicBezTo>
                  <a:lnTo>
                    <a:pt x="89636" y="186544"/>
                  </a:lnTo>
                  <a:cubicBezTo>
                    <a:pt x="40132" y="186544"/>
                    <a:pt x="0" y="146412"/>
                    <a:pt x="0" y="96907"/>
                  </a:cubicBezTo>
                  <a:lnTo>
                    <a:pt x="0" y="89636"/>
                  </a:lnTo>
                  <a:cubicBezTo>
                    <a:pt x="0" y="40132"/>
                    <a:pt x="40132" y="0"/>
                    <a:pt x="8963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160135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95070" y="2429011"/>
            <a:ext cx="5097860" cy="708283"/>
            <a:chOff x="0" y="0"/>
            <a:chExt cx="1342646" cy="1865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2646" cy="186544"/>
            </a:xfrm>
            <a:custGeom>
              <a:avLst/>
              <a:gdLst/>
              <a:ahLst/>
              <a:cxnLst/>
              <a:rect r="r" b="b" t="t" l="l"/>
              <a:pathLst>
                <a:path h="186544" w="1342646">
                  <a:moveTo>
                    <a:pt x="77452" y="0"/>
                  </a:moveTo>
                  <a:lnTo>
                    <a:pt x="1265195" y="0"/>
                  </a:lnTo>
                  <a:cubicBezTo>
                    <a:pt x="1285736" y="0"/>
                    <a:pt x="1305436" y="8160"/>
                    <a:pt x="1319961" y="22685"/>
                  </a:cubicBezTo>
                  <a:cubicBezTo>
                    <a:pt x="1334486" y="37210"/>
                    <a:pt x="1342646" y="56910"/>
                    <a:pt x="1342646" y="77452"/>
                  </a:cubicBezTo>
                  <a:lnTo>
                    <a:pt x="1342646" y="109092"/>
                  </a:lnTo>
                  <a:cubicBezTo>
                    <a:pt x="1342646" y="151867"/>
                    <a:pt x="1307970" y="186544"/>
                    <a:pt x="1265195" y="186544"/>
                  </a:cubicBezTo>
                  <a:lnTo>
                    <a:pt x="77452" y="186544"/>
                  </a:lnTo>
                  <a:cubicBezTo>
                    <a:pt x="34676" y="186544"/>
                    <a:pt x="0" y="151867"/>
                    <a:pt x="0" y="109092"/>
                  </a:cubicBezTo>
                  <a:lnTo>
                    <a:pt x="0" y="77452"/>
                  </a:lnTo>
                  <a:cubicBezTo>
                    <a:pt x="0" y="34676"/>
                    <a:pt x="34676" y="0"/>
                    <a:pt x="77452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42646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920815" y="3188908"/>
            <a:ext cx="2514955" cy="848515"/>
          </a:xfrm>
          <a:custGeom>
            <a:avLst/>
            <a:gdLst/>
            <a:ahLst/>
            <a:cxnLst/>
            <a:rect r="r" b="b" t="t" l="l"/>
            <a:pathLst>
              <a:path h="848515" w="2514955">
                <a:moveTo>
                  <a:pt x="0" y="0"/>
                </a:moveTo>
                <a:lnTo>
                  <a:pt x="2514954" y="0"/>
                </a:lnTo>
                <a:lnTo>
                  <a:pt x="2514954" y="848514"/>
                </a:lnTo>
                <a:lnTo>
                  <a:pt x="0" y="848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12017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3070012" y="2429011"/>
            <a:ext cx="4745279" cy="708283"/>
            <a:chOff x="0" y="0"/>
            <a:chExt cx="1249785" cy="1865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9785" cy="186544"/>
            </a:xfrm>
            <a:custGeom>
              <a:avLst/>
              <a:gdLst/>
              <a:ahLst/>
              <a:cxnLst/>
              <a:rect r="r" b="b" t="t" l="l"/>
              <a:pathLst>
                <a:path h="186544" w="1249785">
                  <a:moveTo>
                    <a:pt x="83206" y="0"/>
                  </a:moveTo>
                  <a:lnTo>
                    <a:pt x="1166579" y="0"/>
                  </a:lnTo>
                  <a:cubicBezTo>
                    <a:pt x="1188647" y="0"/>
                    <a:pt x="1209810" y="8766"/>
                    <a:pt x="1225415" y="24371"/>
                  </a:cubicBezTo>
                  <a:cubicBezTo>
                    <a:pt x="1241019" y="39975"/>
                    <a:pt x="1249785" y="61139"/>
                    <a:pt x="1249785" y="83206"/>
                  </a:cubicBezTo>
                  <a:lnTo>
                    <a:pt x="1249785" y="103337"/>
                  </a:lnTo>
                  <a:cubicBezTo>
                    <a:pt x="1249785" y="149291"/>
                    <a:pt x="1212533" y="186544"/>
                    <a:pt x="1166579" y="186544"/>
                  </a:cubicBezTo>
                  <a:lnTo>
                    <a:pt x="83206" y="186544"/>
                  </a:lnTo>
                  <a:cubicBezTo>
                    <a:pt x="37253" y="186544"/>
                    <a:pt x="0" y="149291"/>
                    <a:pt x="0" y="103337"/>
                  </a:cubicBezTo>
                  <a:lnTo>
                    <a:pt x="0" y="83206"/>
                  </a:lnTo>
                  <a:cubicBezTo>
                    <a:pt x="0" y="37253"/>
                    <a:pt x="37253" y="0"/>
                    <a:pt x="8320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49785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717431" y="3272636"/>
            <a:ext cx="5070093" cy="681057"/>
          </a:xfrm>
          <a:custGeom>
            <a:avLst/>
            <a:gdLst/>
            <a:ahLst/>
            <a:cxnLst/>
            <a:rect r="r" b="b" t="t" l="l"/>
            <a:pathLst>
              <a:path h="681057" w="5070093">
                <a:moveTo>
                  <a:pt x="0" y="0"/>
                </a:moveTo>
                <a:lnTo>
                  <a:pt x="5070093" y="0"/>
                </a:lnTo>
                <a:lnTo>
                  <a:pt x="5070093" y="681058"/>
                </a:lnTo>
                <a:lnTo>
                  <a:pt x="0" y="6810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50001" y="3320316"/>
            <a:ext cx="5240269" cy="650432"/>
          </a:xfrm>
          <a:custGeom>
            <a:avLst/>
            <a:gdLst/>
            <a:ahLst/>
            <a:cxnLst/>
            <a:rect r="r" b="b" t="t" l="l"/>
            <a:pathLst>
              <a:path h="650432" w="5240269">
                <a:moveTo>
                  <a:pt x="0" y="0"/>
                </a:moveTo>
                <a:lnTo>
                  <a:pt x="5240269" y="0"/>
                </a:lnTo>
                <a:lnTo>
                  <a:pt x="5240269" y="650431"/>
                </a:lnTo>
                <a:lnTo>
                  <a:pt x="0" y="6504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25" id="25"/>
          <p:cNvSpPr/>
          <p:nvPr/>
        </p:nvSpPr>
        <p:spPr>
          <a:xfrm>
            <a:off x="5217988" y="2802203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6" id="26"/>
          <p:cNvSpPr/>
          <p:nvPr/>
        </p:nvSpPr>
        <p:spPr>
          <a:xfrm>
            <a:off x="11692930" y="2794724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105076" y="4156485"/>
            <a:ext cx="7292875" cy="2433323"/>
          </a:xfrm>
          <a:custGeom>
            <a:avLst/>
            <a:gdLst/>
            <a:ahLst/>
            <a:cxnLst/>
            <a:rect r="r" b="b" t="t" l="l"/>
            <a:pathLst>
              <a:path h="2433323" w="7292875">
                <a:moveTo>
                  <a:pt x="0" y="0"/>
                </a:moveTo>
                <a:lnTo>
                  <a:pt x="7292874" y="0"/>
                </a:lnTo>
                <a:lnTo>
                  <a:pt x="7292874" y="2433323"/>
                </a:lnTo>
                <a:lnTo>
                  <a:pt x="0" y="24333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811" r="0" b="-81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013807" y="4342514"/>
            <a:ext cx="5926200" cy="4421133"/>
          </a:xfrm>
          <a:custGeom>
            <a:avLst/>
            <a:gdLst/>
            <a:ahLst/>
            <a:cxnLst/>
            <a:rect r="r" b="b" t="t" l="l"/>
            <a:pathLst>
              <a:path h="4421133" w="5926200">
                <a:moveTo>
                  <a:pt x="0" y="0"/>
                </a:moveTo>
                <a:lnTo>
                  <a:pt x="5926199" y="0"/>
                </a:lnTo>
                <a:lnTo>
                  <a:pt x="5926199" y="4421133"/>
                </a:lnTo>
                <a:lnTo>
                  <a:pt x="0" y="44211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28700" y="6713633"/>
            <a:ext cx="7188681" cy="2475986"/>
          </a:xfrm>
          <a:custGeom>
            <a:avLst/>
            <a:gdLst/>
            <a:ahLst/>
            <a:cxnLst/>
            <a:rect r="r" b="b" t="t" l="l"/>
            <a:pathLst>
              <a:path h="2475986" w="7188681">
                <a:moveTo>
                  <a:pt x="0" y="0"/>
                </a:moveTo>
                <a:lnTo>
                  <a:pt x="7188681" y="0"/>
                </a:lnTo>
                <a:lnTo>
                  <a:pt x="7188681" y="2475985"/>
                </a:lnTo>
                <a:lnTo>
                  <a:pt x="0" y="24759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6595070" y="9940291"/>
            <a:ext cx="509786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51513" y="1642692"/>
            <a:ext cx="8784974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Standard QDC using Bell state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2180" y="2556458"/>
            <a:ext cx="409723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Preparation of Bell state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90900" y="2556458"/>
            <a:ext cx="462319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Encoding operation of Alice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65287" y="2556458"/>
            <a:ext cx="422552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Bob’s decoding operation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19118" y="8959817"/>
            <a:ext cx="6778832" cy="32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6"/>
              </a:lnSpc>
            </a:pPr>
            <a:r>
              <a:rPr lang="en-US" sz="19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Quantum Dense coding circuit using Bell state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75871" y="8915338"/>
            <a:ext cx="6778832" cy="32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6"/>
              </a:lnSpc>
            </a:pPr>
            <a:r>
              <a:rPr lang="en-US" sz="19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Output of Quantum Dense coding circuit using Bell state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355" y="298494"/>
            <a:ext cx="17255731" cy="1051613"/>
            <a:chOff x="0" y="0"/>
            <a:chExt cx="4544719" cy="276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719" cy="276968"/>
            </a:xfrm>
            <a:custGeom>
              <a:avLst/>
              <a:gdLst/>
              <a:ahLst/>
              <a:cxnLst/>
              <a:rect r="r" b="b" t="t" l="l"/>
              <a:pathLst>
                <a:path h="276968" w="4544719">
                  <a:moveTo>
                    <a:pt x="22882" y="0"/>
                  </a:moveTo>
                  <a:lnTo>
                    <a:pt x="4521838" y="0"/>
                  </a:lnTo>
                  <a:cubicBezTo>
                    <a:pt x="4534475" y="0"/>
                    <a:pt x="4544719" y="10244"/>
                    <a:pt x="4544719" y="22882"/>
                  </a:cubicBezTo>
                  <a:lnTo>
                    <a:pt x="4544719" y="254086"/>
                  </a:lnTo>
                  <a:cubicBezTo>
                    <a:pt x="4544719" y="266724"/>
                    <a:pt x="4534475" y="276968"/>
                    <a:pt x="4521838" y="276968"/>
                  </a:cubicBezTo>
                  <a:lnTo>
                    <a:pt x="22882" y="276968"/>
                  </a:lnTo>
                  <a:cubicBezTo>
                    <a:pt x="16813" y="276968"/>
                    <a:pt x="10993" y="274557"/>
                    <a:pt x="6702" y="270266"/>
                  </a:cubicBezTo>
                  <a:cubicBezTo>
                    <a:pt x="2411" y="265975"/>
                    <a:pt x="0" y="260155"/>
                    <a:pt x="0" y="254086"/>
                  </a:cubicBezTo>
                  <a:lnTo>
                    <a:pt x="0" y="22882"/>
                  </a:lnTo>
                  <a:cubicBezTo>
                    <a:pt x="0" y="10244"/>
                    <a:pt x="10244" y="0"/>
                    <a:pt x="2288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44719" cy="324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30243" y="387867"/>
            <a:ext cx="16885047" cy="78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9"/>
              </a:lnSpc>
              <a:spcBef>
                <a:spcPct val="0"/>
              </a:spcBef>
            </a:pP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</a:t>
            </a: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ntum dense coding protocols in noiseless environment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922713" y="1639471"/>
            <a:ext cx="9243738" cy="593137"/>
            <a:chOff x="0" y="0"/>
            <a:chExt cx="2434565" cy="156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4565" cy="156217"/>
            </a:xfrm>
            <a:custGeom>
              <a:avLst/>
              <a:gdLst/>
              <a:ahLst/>
              <a:cxnLst/>
              <a:rect r="r" b="b" t="t" l="l"/>
              <a:pathLst>
                <a:path h="156217" w="2434565">
                  <a:moveTo>
                    <a:pt x="0" y="0"/>
                  </a:moveTo>
                  <a:lnTo>
                    <a:pt x="2434565" y="0"/>
                  </a:lnTo>
                  <a:lnTo>
                    <a:pt x="2434565" y="156217"/>
                  </a:lnTo>
                  <a:lnTo>
                    <a:pt x="0" y="156217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434565" cy="203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8355" y="2421533"/>
            <a:ext cx="4404889" cy="922401"/>
            <a:chOff x="0" y="0"/>
            <a:chExt cx="1160135" cy="2429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0135" cy="242937"/>
            </a:xfrm>
            <a:custGeom>
              <a:avLst/>
              <a:gdLst/>
              <a:ahLst/>
              <a:cxnLst/>
              <a:rect r="r" b="b" t="t" l="l"/>
              <a:pathLst>
                <a:path h="242937" w="1160135">
                  <a:moveTo>
                    <a:pt x="89636" y="0"/>
                  </a:moveTo>
                  <a:lnTo>
                    <a:pt x="1070499" y="0"/>
                  </a:lnTo>
                  <a:cubicBezTo>
                    <a:pt x="1120004" y="0"/>
                    <a:pt x="1160135" y="40132"/>
                    <a:pt x="1160135" y="89636"/>
                  </a:cubicBezTo>
                  <a:lnTo>
                    <a:pt x="1160135" y="153301"/>
                  </a:lnTo>
                  <a:cubicBezTo>
                    <a:pt x="1160135" y="202805"/>
                    <a:pt x="1120004" y="242937"/>
                    <a:pt x="1070499" y="242937"/>
                  </a:cubicBezTo>
                  <a:lnTo>
                    <a:pt x="89636" y="242937"/>
                  </a:lnTo>
                  <a:cubicBezTo>
                    <a:pt x="40132" y="242937"/>
                    <a:pt x="0" y="202805"/>
                    <a:pt x="0" y="153301"/>
                  </a:cubicBezTo>
                  <a:lnTo>
                    <a:pt x="0" y="89636"/>
                  </a:lnTo>
                  <a:cubicBezTo>
                    <a:pt x="0" y="40132"/>
                    <a:pt x="40132" y="0"/>
                    <a:pt x="8963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160135" cy="290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95070" y="2429011"/>
            <a:ext cx="5097860" cy="708283"/>
            <a:chOff x="0" y="0"/>
            <a:chExt cx="1342646" cy="1865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2646" cy="186544"/>
            </a:xfrm>
            <a:custGeom>
              <a:avLst/>
              <a:gdLst/>
              <a:ahLst/>
              <a:cxnLst/>
              <a:rect r="r" b="b" t="t" l="l"/>
              <a:pathLst>
                <a:path h="186544" w="1342646">
                  <a:moveTo>
                    <a:pt x="77452" y="0"/>
                  </a:moveTo>
                  <a:lnTo>
                    <a:pt x="1265195" y="0"/>
                  </a:lnTo>
                  <a:cubicBezTo>
                    <a:pt x="1285736" y="0"/>
                    <a:pt x="1305436" y="8160"/>
                    <a:pt x="1319961" y="22685"/>
                  </a:cubicBezTo>
                  <a:cubicBezTo>
                    <a:pt x="1334486" y="37210"/>
                    <a:pt x="1342646" y="56910"/>
                    <a:pt x="1342646" y="77452"/>
                  </a:cubicBezTo>
                  <a:lnTo>
                    <a:pt x="1342646" y="109092"/>
                  </a:lnTo>
                  <a:cubicBezTo>
                    <a:pt x="1342646" y="151867"/>
                    <a:pt x="1307970" y="186544"/>
                    <a:pt x="1265195" y="186544"/>
                  </a:cubicBezTo>
                  <a:lnTo>
                    <a:pt x="77452" y="186544"/>
                  </a:lnTo>
                  <a:cubicBezTo>
                    <a:pt x="34676" y="186544"/>
                    <a:pt x="0" y="151867"/>
                    <a:pt x="0" y="109092"/>
                  </a:cubicBezTo>
                  <a:lnTo>
                    <a:pt x="0" y="77452"/>
                  </a:lnTo>
                  <a:cubicBezTo>
                    <a:pt x="0" y="34676"/>
                    <a:pt x="34676" y="0"/>
                    <a:pt x="77452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42646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70012" y="2429011"/>
            <a:ext cx="4745279" cy="708283"/>
            <a:chOff x="0" y="0"/>
            <a:chExt cx="1249785" cy="1865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9785" cy="186544"/>
            </a:xfrm>
            <a:custGeom>
              <a:avLst/>
              <a:gdLst/>
              <a:ahLst/>
              <a:cxnLst/>
              <a:rect r="r" b="b" t="t" l="l"/>
              <a:pathLst>
                <a:path h="186544" w="1249785">
                  <a:moveTo>
                    <a:pt x="83206" y="0"/>
                  </a:moveTo>
                  <a:lnTo>
                    <a:pt x="1166579" y="0"/>
                  </a:lnTo>
                  <a:cubicBezTo>
                    <a:pt x="1188647" y="0"/>
                    <a:pt x="1209810" y="8766"/>
                    <a:pt x="1225415" y="24371"/>
                  </a:cubicBezTo>
                  <a:cubicBezTo>
                    <a:pt x="1241019" y="39975"/>
                    <a:pt x="1249785" y="61139"/>
                    <a:pt x="1249785" y="83206"/>
                  </a:cubicBezTo>
                  <a:lnTo>
                    <a:pt x="1249785" y="103337"/>
                  </a:lnTo>
                  <a:cubicBezTo>
                    <a:pt x="1249785" y="149291"/>
                    <a:pt x="1212533" y="186544"/>
                    <a:pt x="1166579" y="186544"/>
                  </a:cubicBezTo>
                  <a:lnTo>
                    <a:pt x="83206" y="186544"/>
                  </a:lnTo>
                  <a:cubicBezTo>
                    <a:pt x="37253" y="186544"/>
                    <a:pt x="0" y="149291"/>
                    <a:pt x="0" y="103337"/>
                  </a:cubicBezTo>
                  <a:lnTo>
                    <a:pt x="0" y="83206"/>
                  </a:lnTo>
                  <a:cubicBezTo>
                    <a:pt x="0" y="37253"/>
                    <a:pt x="37253" y="0"/>
                    <a:pt x="8320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49785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217988" y="2802203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1692930" y="2794724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0" y="3715409"/>
            <a:ext cx="6748167" cy="505430"/>
          </a:xfrm>
          <a:custGeom>
            <a:avLst/>
            <a:gdLst/>
            <a:ahLst/>
            <a:cxnLst/>
            <a:rect r="r" b="b" t="t" l="l"/>
            <a:pathLst>
              <a:path h="505430" w="6748167">
                <a:moveTo>
                  <a:pt x="0" y="0"/>
                </a:moveTo>
                <a:lnTo>
                  <a:pt x="6748167" y="0"/>
                </a:lnTo>
                <a:lnTo>
                  <a:pt x="6748167" y="505429"/>
                </a:lnTo>
                <a:lnTo>
                  <a:pt x="0" y="5054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514412" y="3263379"/>
            <a:ext cx="3259177" cy="3267468"/>
          </a:xfrm>
          <a:custGeom>
            <a:avLst/>
            <a:gdLst/>
            <a:ahLst/>
            <a:cxnLst/>
            <a:rect r="r" b="b" t="t" l="l"/>
            <a:pathLst>
              <a:path h="3267468" w="3259177">
                <a:moveTo>
                  <a:pt x="0" y="0"/>
                </a:moveTo>
                <a:lnTo>
                  <a:pt x="3259176" y="0"/>
                </a:lnTo>
                <a:lnTo>
                  <a:pt x="3259176" y="3267468"/>
                </a:lnTo>
                <a:lnTo>
                  <a:pt x="0" y="32674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928" t="0" r="-172271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111980" y="3508770"/>
            <a:ext cx="6932106" cy="691739"/>
          </a:xfrm>
          <a:custGeom>
            <a:avLst/>
            <a:gdLst/>
            <a:ahLst/>
            <a:cxnLst/>
            <a:rect r="r" b="b" t="t" l="l"/>
            <a:pathLst>
              <a:path h="691739" w="6932106">
                <a:moveTo>
                  <a:pt x="0" y="0"/>
                </a:moveTo>
                <a:lnTo>
                  <a:pt x="6932105" y="0"/>
                </a:lnTo>
                <a:lnTo>
                  <a:pt x="6932105" y="691738"/>
                </a:lnTo>
                <a:lnTo>
                  <a:pt x="0" y="6917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83514" y="4506588"/>
            <a:ext cx="6307386" cy="2557995"/>
          </a:xfrm>
          <a:custGeom>
            <a:avLst/>
            <a:gdLst/>
            <a:ahLst/>
            <a:cxnLst/>
            <a:rect r="r" b="b" t="t" l="l"/>
            <a:pathLst>
              <a:path h="2557995" w="6307386">
                <a:moveTo>
                  <a:pt x="0" y="0"/>
                </a:moveTo>
                <a:lnTo>
                  <a:pt x="6307386" y="0"/>
                </a:lnTo>
                <a:lnTo>
                  <a:pt x="6307386" y="2557996"/>
                </a:lnTo>
                <a:lnTo>
                  <a:pt x="0" y="25579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827368" y="4571983"/>
            <a:ext cx="5987922" cy="4467180"/>
          </a:xfrm>
          <a:custGeom>
            <a:avLst/>
            <a:gdLst/>
            <a:ahLst/>
            <a:cxnLst/>
            <a:rect r="r" b="b" t="t" l="l"/>
            <a:pathLst>
              <a:path h="4467180" w="5987922">
                <a:moveTo>
                  <a:pt x="0" y="0"/>
                </a:moveTo>
                <a:lnTo>
                  <a:pt x="5987923" y="0"/>
                </a:lnTo>
                <a:lnTo>
                  <a:pt x="5987923" y="4467180"/>
                </a:lnTo>
                <a:lnTo>
                  <a:pt x="0" y="44671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83514" y="7153277"/>
            <a:ext cx="6093888" cy="1945678"/>
          </a:xfrm>
          <a:custGeom>
            <a:avLst/>
            <a:gdLst/>
            <a:ahLst/>
            <a:cxnLst/>
            <a:rect r="r" b="b" t="t" l="l"/>
            <a:pathLst>
              <a:path h="1945678" w="6093888">
                <a:moveTo>
                  <a:pt x="0" y="0"/>
                </a:moveTo>
                <a:lnTo>
                  <a:pt x="6093888" y="0"/>
                </a:lnTo>
                <a:lnTo>
                  <a:pt x="6093888" y="1945678"/>
                </a:lnTo>
                <a:lnTo>
                  <a:pt x="0" y="19456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6595070" y="9940291"/>
            <a:ext cx="509786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51513" y="1642692"/>
            <a:ext cx="9593864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Standard QDC using 3 qubit GHZ state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91965" y="2519068"/>
            <a:ext cx="403074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Preparation of 3 qubit GHZ state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90900" y="2556458"/>
            <a:ext cx="462319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Encoding operation of Alice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65287" y="2556458"/>
            <a:ext cx="422552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Bob’s decoding operation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47791" y="9060855"/>
            <a:ext cx="6778832" cy="32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6"/>
              </a:lnSpc>
            </a:pPr>
            <a:r>
              <a:rPr lang="en-US" sz="19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Quantum Dense coding circuit using 3 qubit GHZ state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74457" y="9060855"/>
            <a:ext cx="6170905" cy="66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6"/>
              </a:lnSpc>
            </a:pPr>
            <a:r>
              <a:rPr lang="en-US" sz="19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Output of Quantum Dense coding circuit using 3 qubit GHZ state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355" y="298494"/>
            <a:ext cx="17255731" cy="1051613"/>
            <a:chOff x="0" y="0"/>
            <a:chExt cx="4544719" cy="276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719" cy="276968"/>
            </a:xfrm>
            <a:custGeom>
              <a:avLst/>
              <a:gdLst/>
              <a:ahLst/>
              <a:cxnLst/>
              <a:rect r="r" b="b" t="t" l="l"/>
              <a:pathLst>
                <a:path h="276968" w="4544719">
                  <a:moveTo>
                    <a:pt x="22882" y="0"/>
                  </a:moveTo>
                  <a:lnTo>
                    <a:pt x="4521838" y="0"/>
                  </a:lnTo>
                  <a:cubicBezTo>
                    <a:pt x="4534475" y="0"/>
                    <a:pt x="4544719" y="10244"/>
                    <a:pt x="4544719" y="22882"/>
                  </a:cubicBezTo>
                  <a:lnTo>
                    <a:pt x="4544719" y="254086"/>
                  </a:lnTo>
                  <a:cubicBezTo>
                    <a:pt x="4544719" y="266724"/>
                    <a:pt x="4534475" y="276968"/>
                    <a:pt x="4521838" y="276968"/>
                  </a:cubicBezTo>
                  <a:lnTo>
                    <a:pt x="22882" y="276968"/>
                  </a:lnTo>
                  <a:cubicBezTo>
                    <a:pt x="16813" y="276968"/>
                    <a:pt x="10993" y="274557"/>
                    <a:pt x="6702" y="270266"/>
                  </a:cubicBezTo>
                  <a:cubicBezTo>
                    <a:pt x="2411" y="265975"/>
                    <a:pt x="0" y="260155"/>
                    <a:pt x="0" y="254086"/>
                  </a:cubicBezTo>
                  <a:lnTo>
                    <a:pt x="0" y="22882"/>
                  </a:lnTo>
                  <a:cubicBezTo>
                    <a:pt x="0" y="10244"/>
                    <a:pt x="10244" y="0"/>
                    <a:pt x="2288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44719" cy="324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30243" y="387867"/>
            <a:ext cx="16885047" cy="78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9"/>
              </a:lnSpc>
              <a:spcBef>
                <a:spcPct val="0"/>
              </a:spcBef>
            </a:pP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</a:t>
            </a: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ntum dense coding protocols in noiseless environment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751513" y="1639471"/>
            <a:ext cx="9740701" cy="593137"/>
            <a:chOff x="0" y="0"/>
            <a:chExt cx="2565452" cy="156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5452" cy="156217"/>
            </a:xfrm>
            <a:custGeom>
              <a:avLst/>
              <a:gdLst/>
              <a:ahLst/>
              <a:cxnLst/>
              <a:rect r="r" b="b" t="t" l="l"/>
              <a:pathLst>
                <a:path h="156217" w="2565452">
                  <a:moveTo>
                    <a:pt x="0" y="0"/>
                  </a:moveTo>
                  <a:lnTo>
                    <a:pt x="2565452" y="0"/>
                  </a:lnTo>
                  <a:lnTo>
                    <a:pt x="2565452" y="156217"/>
                  </a:lnTo>
                  <a:lnTo>
                    <a:pt x="0" y="156217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565452" cy="203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8355" y="2421533"/>
            <a:ext cx="4404889" cy="922401"/>
            <a:chOff x="0" y="0"/>
            <a:chExt cx="1160135" cy="2429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0135" cy="242937"/>
            </a:xfrm>
            <a:custGeom>
              <a:avLst/>
              <a:gdLst/>
              <a:ahLst/>
              <a:cxnLst/>
              <a:rect r="r" b="b" t="t" l="l"/>
              <a:pathLst>
                <a:path h="242937" w="1160135">
                  <a:moveTo>
                    <a:pt x="89636" y="0"/>
                  </a:moveTo>
                  <a:lnTo>
                    <a:pt x="1070499" y="0"/>
                  </a:lnTo>
                  <a:cubicBezTo>
                    <a:pt x="1120004" y="0"/>
                    <a:pt x="1160135" y="40132"/>
                    <a:pt x="1160135" y="89636"/>
                  </a:cubicBezTo>
                  <a:lnTo>
                    <a:pt x="1160135" y="153301"/>
                  </a:lnTo>
                  <a:cubicBezTo>
                    <a:pt x="1160135" y="202805"/>
                    <a:pt x="1120004" y="242937"/>
                    <a:pt x="1070499" y="242937"/>
                  </a:cubicBezTo>
                  <a:lnTo>
                    <a:pt x="89636" y="242937"/>
                  </a:lnTo>
                  <a:cubicBezTo>
                    <a:pt x="40132" y="242937"/>
                    <a:pt x="0" y="202805"/>
                    <a:pt x="0" y="153301"/>
                  </a:cubicBezTo>
                  <a:lnTo>
                    <a:pt x="0" y="89636"/>
                  </a:lnTo>
                  <a:cubicBezTo>
                    <a:pt x="0" y="40132"/>
                    <a:pt x="40132" y="0"/>
                    <a:pt x="8963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160135" cy="290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95070" y="2429011"/>
            <a:ext cx="5097860" cy="708283"/>
            <a:chOff x="0" y="0"/>
            <a:chExt cx="1342646" cy="1865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2646" cy="186544"/>
            </a:xfrm>
            <a:custGeom>
              <a:avLst/>
              <a:gdLst/>
              <a:ahLst/>
              <a:cxnLst/>
              <a:rect r="r" b="b" t="t" l="l"/>
              <a:pathLst>
                <a:path h="186544" w="1342646">
                  <a:moveTo>
                    <a:pt x="77452" y="0"/>
                  </a:moveTo>
                  <a:lnTo>
                    <a:pt x="1265195" y="0"/>
                  </a:lnTo>
                  <a:cubicBezTo>
                    <a:pt x="1285736" y="0"/>
                    <a:pt x="1305436" y="8160"/>
                    <a:pt x="1319961" y="22685"/>
                  </a:cubicBezTo>
                  <a:cubicBezTo>
                    <a:pt x="1334486" y="37210"/>
                    <a:pt x="1342646" y="56910"/>
                    <a:pt x="1342646" y="77452"/>
                  </a:cubicBezTo>
                  <a:lnTo>
                    <a:pt x="1342646" y="109092"/>
                  </a:lnTo>
                  <a:cubicBezTo>
                    <a:pt x="1342646" y="151867"/>
                    <a:pt x="1307970" y="186544"/>
                    <a:pt x="1265195" y="186544"/>
                  </a:cubicBezTo>
                  <a:lnTo>
                    <a:pt x="77452" y="186544"/>
                  </a:lnTo>
                  <a:cubicBezTo>
                    <a:pt x="34676" y="186544"/>
                    <a:pt x="0" y="151867"/>
                    <a:pt x="0" y="109092"/>
                  </a:cubicBezTo>
                  <a:lnTo>
                    <a:pt x="0" y="77452"/>
                  </a:lnTo>
                  <a:cubicBezTo>
                    <a:pt x="0" y="34676"/>
                    <a:pt x="34676" y="0"/>
                    <a:pt x="77452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42646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70012" y="2429011"/>
            <a:ext cx="4745279" cy="708283"/>
            <a:chOff x="0" y="0"/>
            <a:chExt cx="1249785" cy="1865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9785" cy="186544"/>
            </a:xfrm>
            <a:custGeom>
              <a:avLst/>
              <a:gdLst/>
              <a:ahLst/>
              <a:cxnLst/>
              <a:rect r="r" b="b" t="t" l="l"/>
              <a:pathLst>
                <a:path h="186544" w="1249785">
                  <a:moveTo>
                    <a:pt x="83206" y="0"/>
                  </a:moveTo>
                  <a:lnTo>
                    <a:pt x="1166579" y="0"/>
                  </a:lnTo>
                  <a:cubicBezTo>
                    <a:pt x="1188647" y="0"/>
                    <a:pt x="1209810" y="8766"/>
                    <a:pt x="1225415" y="24371"/>
                  </a:cubicBezTo>
                  <a:cubicBezTo>
                    <a:pt x="1241019" y="39975"/>
                    <a:pt x="1249785" y="61139"/>
                    <a:pt x="1249785" y="83206"/>
                  </a:cubicBezTo>
                  <a:lnTo>
                    <a:pt x="1249785" y="103337"/>
                  </a:lnTo>
                  <a:cubicBezTo>
                    <a:pt x="1249785" y="149291"/>
                    <a:pt x="1212533" y="186544"/>
                    <a:pt x="1166579" y="186544"/>
                  </a:cubicBezTo>
                  <a:lnTo>
                    <a:pt x="83206" y="186544"/>
                  </a:lnTo>
                  <a:cubicBezTo>
                    <a:pt x="37253" y="186544"/>
                    <a:pt x="0" y="149291"/>
                    <a:pt x="0" y="103337"/>
                  </a:cubicBezTo>
                  <a:lnTo>
                    <a:pt x="0" y="83206"/>
                  </a:lnTo>
                  <a:cubicBezTo>
                    <a:pt x="0" y="37253"/>
                    <a:pt x="37253" y="0"/>
                    <a:pt x="8320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49785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217988" y="2802203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1692930" y="2794724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347791" y="3601109"/>
            <a:ext cx="6247279" cy="516304"/>
          </a:xfrm>
          <a:custGeom>
            <a:avLst/>
            <a:gdLst/>
            <a:ahLst/>
            <a:cxnLst/>
            <a:rect r="r" b="b" t="t" l="l"/>
            <a:pathLst>
              <a:path h="516304" w="6247279">
                <a:moveTo>
                  <a:pt x="0" y="0"/>
                </a:moveTo>
                <a:lnTo>
                  <a:pt x="6247279" y="0"/>
                </a:lnTo>
                <a:lnTo>
                  <a:pt x="6247279" y="516304"/>
                </a:lnTo>
                <a:lnTo>
                  <a:pt x="0" y="5163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579818" y="3295598"/>
            <a:ext cx="3026794" cy="2706988"/>
          </a:xfrm>
          <a:custGeom>
            <a:avLst/>
            <a:gdLst/>
            <a:ahLst/>
            <a:cxnLst/>
            <a:rect r="r" b="b" t="t" l="l"/>
            <a:pathLst>
              <a:path h="2706988" w="3026794">
                <a:moveTo>
                  <a:pt x="0" y="0"/>
                </a:moveTo>
                <a:lnTo>
                  <a:pt x="3026794" y="0"/>
                </a:lnTo>
                <a:lnTo>
                  <a:pt x="3026794" y="2706988"/>
                </a:lnTo>
                <a:lnTo>
                  <a:pt x="0" y="27069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91502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502503" y="3319766"/>
            <a:ext cx="3161406" cy="2658652"/>
          </a:xfrm>
          <a:custGeom>
            <a:avLst/>
            <a:gdLst/>
            <a:ahLst/>
            <a:cxnLst/>
            <a:rect r="r" b="b" t="t" l="l"/>
            <a:pathLst>
              <a:path h="2658652" w="3161406">
                <a:moveTo>
                  <a:pt x="0" y="0"/>
                </a:moveTo>
                <a:lnTo>
                  <a:pt x="3161406" y="0"/>
                </a:lnTo>
                <a:lnTo>
                  <a:pt x="3161406" y="2658652"/>
                </a:lnTo>
                <a:lnTo>
                  <a:pt x="0" y="26586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3655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821563" y="3604020"/>
            <a:ext cx="5423799" cy="504279"/>
          </a:xfrm>
          <a:custGeom>
            <a:avLst/>
            <a:gdLst/>
            <a:ahLst/>
            <a:cxnLst/>
            <a:rect r="r" b="b" t="t" l="l"/>
            <a:pathLst>
              <a:path h="504279" w="5423799">
                <a:moveTo>
                  <a:pt x="0" y="0"/>
                </a:moveTo>
                <a:lnTo>
                  <a:pt x="5423799" y="0"/>
                </a:lnTo>
                <a:lnTo>
                  <a:pt x="5423799" y="504278"/>
                </a:lnTo>
                <a:lnTo>
                  <a:pt x="0" y="5042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47791" y="4307913"/>
            <a:ext cx="5935849" cy="2578852"/>
          </a:xfrm>
          <a:custGeom>
            <a:avLst/>
            <a:gdLst/>
            <a:ahLst/>
            <a:cxnLst/>
            <a:rect r="r" b="b" t="t" l="l"/>
            <a:pathLst>
              <a:path h="2578852" w="5935849">
                <a:moveTo>
                  <a:pt x="0" y="0"/>
                </a:moveTo>
                <a:lnTo>
                  <a:pt x="5935849" y="0"/>
                </a:lnTo>
                <a:lnTo>
                  <a:pt x="5935849" y="2578852"/>
                </a:lnTo>
                <a:lnTo>
                  <a:pt x="0" y="25788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47791" y="7048690"/>
            <a:ext cx="8604571" cy="2066674"/>
          </a:xfrm>
          <a:custGeom>
            <a:avLst/>
            <a:gdLst/>
            <a:ahLst/>
            <a:cxnLst/>
            <a:rect r="r" b="b" t="t" l="l"/>
            <a:pathLst>
              <a:path h="2066674" w="8604571">
                <a:moveTo>
                  <a:pt x="0" y="0"/>
                </a:moveTo>
                <a:lnTo>
                  <a:pt x="8604571" y="0"/>
                </a:lnTo>
                <a:lnTo>
                  <a:pt x="8604571" y="2066673"/>
                </a:lnTo>
                <a:lnTo>
                  <a:pt x="0" y="20666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663909" y="5143500"/>
            <a:ext cx="5097156" cy="3802640"/>
          </a:xfrm>
          <a:custGeom>
            <a:avLst/>
            <a:gdLst/>
            <a:ahLst/>
            <a:cxnLst/>
            <a:rect r="r" b="b" t="t" l="l"/>
            <a:pathLst>
              <a:path h="3802640" w="5097156">
                <a:moveTo>
                  <a:pt x="0" y="0"/>
                </a:moveTo>
                <a:lnTo>
                  <a:pt x="5097156" y="0"/>
                </a:lnTo>
                <a:lnTo>
                  <a:pt x="5097156" y="3802640"/>
                </a:lnTo>
                <a:lnTo>
                  <a:pt x="0" y="3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6595070" y="9940291"/>
            <a:ext cx="509786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751513" y="1642692"/>
            <a:ext cx="9740701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Standard QDC using 4 qubit cluster state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0243" y="2470733"/>
            <a:ext cx="403074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Preparation of 4 qubit cluster state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90900" y="2556458"/>
            <a:ext cx="462319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Encoding operation of Alice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65287" y="2556458"/>
            <a:ext cx="422552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Bob’s decoding operation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068" y="9060855"/>
            <a:ext cx="5849139" cy="66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6"/>
              </a:lnSpc>
            </a:pPr>
            <a:r>
              <a:rPr lang="en-US" sz="19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Quantum Dense coding circuit using 4 qubit cluster state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074457" y="9060855"/>
            <a:ext cx="6170905" cy="66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6"/>
              </a:lnSpc>
            </a:pPr>
            <a:r>
              <a:rPr lang="en-US" sz="19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Output of Quantum Dense coding circuit using 4 qubit GHZ state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355" y="298494"/>
            <a:ext cx="17255731" cy="1051613"/>
            <a:chOff x="0" y="0"/>
            <a:chExt cx="4544719" cy="276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719" cy="276968"/>
            </a:xfrm>
            <a:custGeom>
              <a:avLst/>
              <a:gdLst/>
              <a:ahLst/>
              <a:cxnLst/>
              <a:rect r="r" b="b" t="t" l="l"/>
              <a:pathLst>
                <a:path h="276968" w="4544719">
                  <a:moveTo>
                    <a:pt x="22882" y="0"/>
                  </a:moveTo>
                  <a:lnTo>
                    <a:pt x="4521838" y="0"/>
                  </a:lnTo>
                  <a:cubicBezTo>
                    <a:pt x="4534475" y="0"/>
                    <a:pt x="4544719" y="10244"/>
                    <a:pt x="4544719" y="22882"/>
                  </a:cubicBezTo>
                  <a:lnTo>
                    <a:pt x="4544719" y="254086"/>
                  </a:lnTo>
                  <a:cubicBezTo>
                    <a:pt x="4544719" y="266724"/>
                    <a:pt x="4534475" y="276968"/>
                    <a:pt x="4521838" y="276968"/>
                  </a:cubicBezTo>
                  <a:lnTo>
                    <a:pt x="22882" y="276968"/>
                  </a:lnTo>
                  <a:cubicBezTo>
                    <a:pt x="16813" y="276968"/>
                    <a:pt x="10993" y="274557"/>
                    <a:pt x="6702" y="270266"/>
                  </a:cubicBezTo>
                  <a:cubicBezTo>
                    <a:pt x="2411" y="265975"/>
                    <a:pt x="0" y="260155"/>
                    <a:pt x="0" y="254086"/>
                  </a:cubicBezTo>
                  <a:lnTo>
                    <a:pt x="0" y="22882"/>
                  </a:lnTo>
                  <a:cubicBezTo>
                    <a:pt x="0" y="10244"/>
                    <a:pt x="10244" y="0"/>
                    <a:pt x="2288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44719" cy="324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30243" y="387867"/>
            <a:ext cx="16885047" cy="78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9"/>
              </a:lnSpc>
              <a:spcBef>
                <a:spcPct val="0"/>
              </a:spcBef>
            </a:pP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</a:t>
            </a: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ntum dense coding protocols in noiseless environment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751513" y="1639471"/>
            <a:ext cx="9740701" cy="593137"/>
            <a:chOff x="0" y="0"/>
            <a:chExt cx="2565452" cy="156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5452" cy="156217"/>
            </a:xfrm>
            <a:custGeom>
              <a:avLst/>
              <a:gdLst/>
              <a:ahLst/>
              <a:cxnLst/>
              <a:rect r="r" b="b" t="t" l="l"/>
              <a:pathLst>
                <a:path h="156217" w="2565452">
                  <a:moveTo>
                    <a:pt x="0" y="0"/>
                  </a:moveTo>
                  <a:lnTo>
                    <a:pt x="2565452" y="0"/>
                  </a:lnTo>
                  <a:lnTo>
                    <a:pt x="2565452" y="156217"/>
                  </a:lnTo>
                  <a:lnTo>
                    <a:pt x="0" y="156217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565452" cy="203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8355" y="2421533"/>
            <a:ext cx="4404889" cy="922401"/>
            <a:chOff x="0" y="0"/>
            <a:chExt cx="1160135" cy="2429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0135" cy="242937"/>
            </a:xfrm>
            <a:custGeom>
              <a:avLst/>
              <a:gdLst/>
              <a:ahLst/>
              <a:cxnLst/>
              <a:rect r="r" b="b" t="t" l="l"/>
              <a:pathLst>
                <a:path h="242937" w="1160135">
                  <a:moveTo>
                    <a:pt x="89636" y="0"/>
                  </a:moveTo>
                  <a:lnTo>
                    <a:pt x="1070499" y="0"/>
                  </a:lnTo>
                  <a:cubicBezTo>
                    <a:pt x="1120004" y="0"/>
                    <a:pt x="1160135" y="40132"/>
                    <a:pt x="1160135" y="89636"/>
                  </a:cubicBezTo>
                  <a:lnTo>
                    <a:pt x="1160135" y="153301"/>
                  </a:lnTo>
                  <a:cubicBezTo>
                    <a:pt x="1160135" y="202805"/>
                    <a:pt x="1120004" y="242937"/>
                    <a:pt x="1070499" y="242937"/>
                  </a:cubicBezTo>
                  <a:lnTo>
                    <a:pt x="89636" y="242937"/>
                  </a:lnTo>
                  <a:cubicBezTo>
                    <a:pt x="40132" y="242937"/>
                    <a:pt x="0" y="202805"/>
                    <a:pt x="0" y="153301"/>
                  </a:cubicBezTo>
                  <a:lnTo>
                    <a:pt x="0" y="89636"/>
                  </a:lnTo>
                  <a:cubicBezTo>
                    <a:pt x="0" y="40132"/>
                    <a:pt x="40132" y="0"/>
                    <a:pt x="8963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160135" cy="290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95070" y="2429011"/>
            <a:ext cx="5097860" cy="708283"/>
            <a:chOff x="0" y="0"/>
            <a:chExt cx="1342646" cy="1865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2646" cy="186544"/>
            </a:xfrm>
            <a:custGeom>
              <a:avLst/>
              <a:gdLst/>
              <a:ahLst/>
              <a:cxnLst/>
              <a:rect r="r" b="b" t="t" l="l"/>
              <a:pathLst>
                <a:path h="186544" w="1342646">
                  <a:moveTo>
                    <a:pt x="77452" y="0"/>
                  </a:moveTo>
                  <a:lnTo>
                    <a:pt x="1265195" y="0"/>
                  </a:lnTo>
                  <a:cubicBezTo>
                    <a:pt x="1285736" y="0"/>
                    <a:pt x="1305436" y="8160"/>
                    <a:pt x="1319961" y="22685"/>
                  </a:cubicBezTo>
                  <a:cubicBezTo>
                    <a:pt x="1334486" y="37210"/>
                    <a:pt x="1342646" y="56910"/>
                    <a:pt x="1342646" y="77452"/>
                  </a:cubicBezTo>
                  <a:lnTo>
                    <a:pt x="1342646" y="109092"/>
                  </a:lnTo>
                  <a:cubicBezTo>
                    <a:pt x="1342646" y="151867"/>
                    <a:pt x="1307970" y="186544"/>
                    <a:pt x="1265195" y="186544"/>
                  </a:cubicBezTo>
                  <a:lnTo>
                    <a:pt x="77452" y="186544"/>
                  </a:lnTo>
                  <a:cubicBezTo>
                    <a:pt x="34676" y="186544"/>
                    <a:pt x="0" y="151867"/>
                    <a:pt x="0" y="109092"/>
                  </a:cubicBezTo>
                  <a:lnTo>
                    <a:pt x="0" y="77452"/>
                  </a:lnTo>
                  <a:cubicBezTo>
                    <a:pt x="0" y="34676"/>
                    <a:pt x="34676" y="0"/>
                    <a:pt x="77452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42646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70012" y="2429011"/>
            <a:ext cx="4745279" cy="708283"/>
            <a:chOff x="0" y="0"/>
            <a:chExt cx="1249785" cy="1865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9785" cy="186544"/>
            </a:xfrm>
            <a:custGeom>
              <a:avLst/>
              <a:gdLst/>
              <a:ahLst/>
              <a:cxnLst/>
              <a:rect r="r" b="b" t="t" l="l"/>
              <a:pathLst>
                <a:path h="186544" w="1249785">
                  <a:moveTo>
                    <a:pt x="83206" y="0"/>
                  </a:moveTo>
                  <a:lnTo>
                    <a:pt x="1166579" y="0"/>
                  </a:lnTo>
                  <a:cubicBezTo>
                    <a:pt x="1188647" y="0"/>
                    <a:pt x="1209810" y="8766"/>
                    <a:pt x="1225415" y="24371"/>
                  </a:cubicBezTo>
                  <a:cubicBezTo>
                    <a:pt x="1241019" y="39975"/>
                    <a:pt x="1249785" y="61139"/>
                    <a:pt x="1249785" y="83206"/>
                  </a:cubicBezTo>
                  <a:lnTo>
                    <a:pt x="1249785" y="103337"/>
                  </a:lnTo>
                  <a:cubicBezTo>
                    <a:pt x="1249785" y="149291"/>
                    <a:pt x="1212533" y="186544"/>
                    <a:pt x="1166579" y="186544"/>
                  </a:cubicBezTo>
                  <a:lnTo>
                    <a:pt x="83206" y="186544"/>
                  </a:lnTo>
                  <a:cubicBezTo>
                    <a:pt x="37253" y="186544"/>
                    <a:pt x="0" y="149291"/>
                    <a:pt x="0" y="103337"/>
                  </a:cubicBezTo>
                  <a:lnTo>
                    <a:pt x="0" y="83206"/>
                  </a:lnTo>
                  <a:cubicBezTo>
                    <a:pt x="0" y="37253"/>
                    <a:pt x="37253" y="0"/>
                    <a:pt x="8320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49785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217988" y="2802203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1692930" y="2794724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217625" y="3534434"/>
            <a:ext cx="7015526" cy="482167"/>
          </a:xfrm>
          <a:custGeom>
            <a:avLst/>
            <a:gdLst/>
            <a:ahLst/>
            <a:cxnLst/>
            <a:rect r="r" b="b" t="t" l="l"/>
            <a:pathLst>
              <a:path h="482167" w="7015526">
                <a:moveTo>
                  <a:pt x="0" y="0"/>
                </a:moveTo>
                <a:lnTo>
                  <a:pt x="7015525" y="0"/>
                </a:lnTo>
                <a:lnTo>
                  <a:pt x="7015525" y="482167"/>
                </a:lnTo>
                <a:lnTo>
                  <a:pt x="0" y="4821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909504" y="3226038"/>
            <a:ext cx="4349796" cy="658586"/>
          </a:xfrm>
          <a:custGeom>
            <a:avLst/>
            <a:gdLst/>
            <a:ahLst/>
            <a:cxnLst/>
            <a:rect r="r" b="b" t="t" l="l"/>
            <a:pathLst>
              <a:path h="658586" w="4349796">
                <a:moveTo>
                  <a:pt x="0" y="0"/>
                </a:moveTo>
                <a:lnTo>
                  <a:pt x="4349796" y="0"/>
                </a:lnTo>
                <a:lnTo>
                  <a:pt x="4349796" y="658586"/>
                </a:lnTo>
                <a:lnTo>
                  <a:pt x="0" y="6585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5623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885718" y="3884624"/>
            <a:ext cx="3929572" cy="683922"/>
          </a:xfrm>
          <a:custGeom>
            <a:avLst/>
            <a:gdLst/>
            <a:ahLst/>
            <a:cxnLst/>
            <a:rect r="r" b="b" t="t" l="l"/>
            <a:pathLst>
              <a:path h="683922" w="3929572">
                <a:moveTo>
                  <a:pt x="0" y="0"/>
                </a:moveTo>
                <a:lnTo>
                  <a:pt x="3929573" y="0"/>
                </a:lnTo>
                <a:lnTo>
                  <a:pt x="3929573" y="683922"/>
                </a:lnTo>
                <a:lnTo>
                  <a:pt x="0" y="6839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3379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17625" y="4016601"/>
            <a:ext cx="6494962" cy="3202923"/>
          </a:xfrm>
          <a:custGeom>
            <a:avLst/>
            <a:gdLst/>
            <a:ahLst/>
            <a:cxnLst/>
            <a:rect r="r" b="b" t="t" l="l"/>
            <a:pathLst>
              <a:path h="3202923" w="6494962">
                <a:moveTo>
                  <a:pt x="0" y="0"/>
                </a:moveTo>
                <a:lnTo>
                  <a:pt x="6494962" y="0"/>
                </a:lnTo>
                <a:lnTo>
                  <a:pt x="6494962" y="3202923"/>
                </a:lnTo>
                <a:lnTo>
                  <a:pt x="0" y="32029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17625" y="7219524"/>
            <a:ext cx="8096418" cy="2029165"/>
          </a:xfrm>
          <a:custGeom>
            <a:avLst/>
            <a:gdLst/>
            <a:ahLst/>
            <a:cxnLst/>
            <a:rect r="r" b="b" t="t" l="l"/>
            <a:pathLst>
              <a:path h="2029165" w="8096418">
                <a:moveTo>
                  <a:pt x="0" y="0"/>
                </a:moveTo>
                <a:lnTo>
                  <a:pt x="8096418" y="0"/>
                </a:lnTo>
                <a:lnTo>
                  <a:pt x="8096418" y="2029164"/>
                </a:lnTo>
                <a:lnTo>
                  <a:pt x="0" y="20291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867627" y="4657289"/>
            <a:ext cx="5947664" cy="4437146"/>
          </a:xfrm>
          <a:custGeom>
            <a:avLst/>
            <a:gdLst/>
            <a:ahLst/>
            <a:cxnLst/>
            <a:rect r="r" b="b" t="t" l="l"/>
            <a:pathLst>
              <a:path h="4437146" w="5947664">
                <a:moveTo>
                  <a:pt x="0" y="0"/>
                </a:moveTo>
                <a:lnTo>
                  <a:pt x="5947664" y="0"/>
                </a:lnTo>
                <a:lnTo>
                  <a:pt x="5947664" y="4437147"/>
                </a:lnTo>
                <a:lnTo>
                  <a:pt x="0" y="44371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6595070" y="9940291"/>
            <a:ext cx="509786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51513" y="1642692"/>
            <a:ext cx="9740701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Standard QDC using 5 qubit cluster state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0243" y="2470733"/>
            <a:ext cx="403074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Preparation of 5 qubit cluster state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90900" y="2556458"/>
            <a:ext cx="462319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Encoding operation of Alice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65287" y="2556458"/>
            <a:ext cx="422552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Bob’s decoding operation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068" y="9060855"/>
            <a:ext cx="5849139" cy="66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6"/>
              </a:lnSpc>
            </a:pPr>
            <a:r>
              <a:rPr lang="en-US" sz="19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Quantum Dense coding circuit using 5 qubit cluster state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74457" y="9060855"/>
            <a:ext cx="6170905" cy="66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6"/>
              </a:lnSpc>
            </a:pPr>
            <a:r>
              <a:rPr lang="en-US" sz="19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Output of Quantum Dense coding circuit using 5 qubit cluster state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676800" y="3384945"/>
            <a:ext cx="2934400" cy="1738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6"/>
              </a:lnSpc>
            </a:pPr>
            <a:r>
              <a:rPr lang="en-US" sz="19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 16 orthogonal encoding unitary operators are present </a:t>
            </a:r>
          </a:p>
          <a:p>
            <a:pPr algn="ctr">
              <a:lnSpc>
                <a:spcPts val="2776"/>
              </a:lnSpc>
            </a:pPr>
            <a:r>
              <a:rPr lang="en-US" sz="19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(Ref Sec 3.4.3 in the report)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355" y="298494"/>
            <a:ext cx="17255731" cy="1051613"/>
            <a:chOff x="0" y="0"/>
            <a:chExt cx="4544719" cy="276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719" cy="276968"/>
            </a:xfrm>
            <a:custGeom>
              <a:avLst/>
              <a:gdLst/>
              <a:ahLst/>
              <a:cxnLst/>
              <a:rect r="r" b="b" t="t" l="l"/>
              <a:pathLst>
                <a:path h="276968" w="4544719">
                  <a:moveTo>
                    <a:pt x="22882" y="0"/>
                  </a:moveTo>
                  <a:lnTo>
                    <a:pt x="4521838" y="0"/>
                  </a:lnTo>
                  <a:cubicBezTo>
                    <a:pt x="4534475" y="0"/>
                    <a:pt x="4544719" y="10244"/>
                    <a:pt x="4544719" y="22882"/>
                  </a:cubicBezTo>
                  <a:lnTo>
                    <a:pt x="4544719" y="254086"/>
                  </a:lnTo>
                  <a:cubicBezTo>
                    <a:pt x="4544719" y="266724"/>
                    <a:pt x="4534475" y="276968"/>
                    <a:pt x="4521838" y="276968"/>
                  </a:cubicBezTo>
                  <a:lnTo>
                    <a:pt x="22882" y="276968"/>
                  </a:lnTo>
                  <a:cubicBezTo>
                    <a:pt x="16813" y="276968"/>
                    <a:pt x="10993" y="274557"/>
                    <a:pt x="6702" y="270266"/>
                  </a:cubicBezTo>
                  <a:cubicBezTo>
                    <a:pt x="2411" y="265975"/>
                    <a:pt x="0" y="260155"/>
                    <a:pt x="0" y="254086"/>
                  </a:cubicBezTo>
                  <a:lnTo>
                    <a:pt x="0" y="22882"/>
                  </a:lnTo>
                  <a:cubicBezTo>
                    <a:pt x="0" y="10244"/>
                    <a:pt x="10244" y="0"/>
                    <a:pt x="2288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44719" cy="324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30243" y="387867"/>
            <a:ext cx="16885047" cy="78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9"/>
              </a:lnSpc>
              <a:spcBef>
                <a:spcPct val="0"/>
              </a:spcBef>
            </a:pP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</a:t>
            </a: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ntum dense coding protocols in noiseless environment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751513" y="1639471"/>
            <a:ext cx="9740701" cy="593137"/>
            <a:chOff x="0" y="0"/>
            <a:chExt cx="2565452" cy="156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5452" cy="156217"/>
            </a:xfrm>
            <a:custGeom>
              <a:avLst/>
              <a:gdLst/>
              <a:ahLst/>
              <a:cxnLst/>
              <a:rect r="r" b="b" t="t" l="l"/>
              <a:pathLst>
                <a:path h="156217" w="2565452">
                  <a:moveTo>
                    <a:pt x="0" y="0"/>
                  </a:moveTo>
                  <a:lnTo>
                    <a:pt x="2565452" y="0"/>
                  </a:lnTo>
                  <a:lnTo>
                    <a:pt x="2565452" y="156217"/>
                  </a:lnTo>
                  <a:lnTo>
                    <a:pt x="0" y="156217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565452" cy="203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8355" y="2421533"/>
            <a:ext cx="4404889" cy="922401"/>
            <a:chOff x="0" y="0"/>
            <a:chExt cx="1160135" cy="2429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0135" cy="242937"/>
            </a:xfrm>
            <a:custGeom>
              <a:avLst/>
              <a:gdLst/>
              <a:ahLst/>
              <a:cxnLst/>
              <a:rect r="r" b="b" t="t" l="l"/>
              <a:pathLst>
                <a:path h="242937" w="1160135">
                  <a:moveTo>
                    <a:pt x="89636" y="0"/>
                  </a:moveTo>
                  <a:lnTo>
                    <a:pt x="1070499" y="0"/>
                  </a:lnTo>
                  <a:cubicBezTo>
                    <a:pt x="1120004" y="0"/>
                    <a:pt x="1160135" y="40132"/>
                    <a:pt x="1160135" y="89636"/>
                  </a:cubicBezTo>
                  <a:lnTo>
                    <a:pt x="1160135" y="153301"/>
                  </a:lnTo>
                  <a:cubicBezTo>
                    <a:pt x="1160135" y="202805"/>
                    <a:pt x="1120004" y="242937"/>
                    <a:pt x="1070499" y="242937"/>
                  </a:cubicBezTo>
                  <a:lnTo>
                    <a:pt x="89636" y="242937"/>
                  </a:lnTo>
                  <a:cubicBezTo>
                    <a:pt x="40132" y="242937"/>
                    <a:pt x="0" y="202805"/>
                    <a:pt x="0" y="153301"/>
                  </a:cubicBezTo>
                  <a:lnTo>
                    <a:pt x="0" y="89636"/>
                  </a:lnTo>
                  <a:cubicBezTo>
                    <a:pt x="0" y="40132"/>
                    <a:pt x="40132" y="0"/>
                    <a:pt x="8963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160135" cy="290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95070" y="2429011"/>
            <a:ext cx="5097860" cy="708283"/>
            <a:chOff x="0" y="0"/>
            <a:chExt cx="1342646" cy="1865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2646" cy="186544"/>
            </a:xfrm>
            <a:custGeom>
              <a:avLst/>
              <a:gdLst/>
              <a:ahLst/>
              <a:cxnLst/>
              <a:rect r="r" b="b" t="t" l="l"/>
              <a:pathLst>
                <a:path h="186544" w="1342646">
                  <a:moveTo>
                    <a:pt x="77452" y="0"/>
                  </a:moveTo>
                  <a:lnTo>
                    <a:pt x="1265195" y="0"/>
                  </a:lnTo>
                  <a:cubicBezTo>
                    <a:pt x="1285736" y="0"/>
                    <a:pt x="1305436" y="8160"/>
                    <a:pt x="1319961" y="22685"/>
                  </a:cubicBezTo>
                  <a:cubicBezTo>
                    <a:pt x="1334486" y="37210"/>
                    <a:pt x="1342646" y="56910"/>
                    <a:pt x="1342646" y="77452"/>
                  </a:cubicBezTo>
                  <a:lnTo>
                    <a:pt x="1342646" y="109092"/>
                  </a:lnTo>
                  <a:cubicBezTo>
                    <a:pt x="1342646" y="151867"/>
                    <a:pt x="1307970" y="186544"/>
                    <a:pt x="1265195" y="186544"/>
                  </a:cubicBezTo>
                  <a:lnTo>
                    <a:pt x="77452" y="186544"/>
                  </a:lnTo>
                  <a:cubicBezTo>
                    <a:pt x="34676" y="186544"/>
                    <a:pt x="0" y="151867"/>
                    <a:pt x="0" y="109092"/>
                  </a:cubicBezTo>
                  <a:lnTo>
                    <a:pt x="0" y="77452"/>
                  </a:lnTo>
                  <a:cubicBezTo>
                    <a:pt x="0" y="34676"/>
                    <a:pt x="34676" y="0"/>
                    <a:pt x="77452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42646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70012" y="2429011"/>
            <a:ext cx="4745279" cy="708283"/>
            <a:chOff x="0" y="0"/>
            <a:chExt cx="1249785" cy="1865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9785" cy="186544"/>
            </a:xfrm>
            <a:custGeom>
              <a:avLst/>
              <a:gdLst/>
              <a:ahLst/>
              <a:cxnLst/>
              <a:rect r="r" b="b" t="t" l="l"/>
              <a:pathLst>
                <a:path h="186544" w="1249785">
                  <a:moveTo>
                    <a:pt x="83206" y="0"/>
                  </a:moveTo>
                  <a:lnTo>
                    <a:pt x="1166579" y="0"/>
                  </a:lnTo>
                  <a:cubicBezTo>
                    <a:pt x="1188647" y="0"/>
                    <a:pt x="1209810" y="8766"/>
                    <a:pt x="1225415" y="24371"/>
                  </a:cubicBezTo>
                  <a:cubicBezTo>
                    <a:pt x="1241019" y="39975"/>
                    <a:pt x="1249785" y="61139"/>
                    <a:pt x="1249785" y="83206"/>
                  </a:cubicBezTo>
                  <a:lnTo>
                    <a:pt x="1249785" y="103337"/>
                  </a:lnTo>
                  <a:cubicBezTo>
                    <a:pt x="1249785" y="149291"/>
                    <a:pt x="1212533" y="186544"/>
                    <a:pt x="1166579" y="186544"/>
                  </a:cubicBezTo>
                  <a:lnTo>
                    <a:pt x="83206" y="186544"/>
                  </a:lnTo>
                  <a:cubicBezTo>
                    <a:pt x="37253" y="186544"/>
                    <a:pt x="0" y="149291"/>
                    <a:pt x="0" y="103337"/>
                  </a:cubicBezTo>
                  <a:lnTo>
                    <a:pt x="0" y="83206"/>
                  </a:lnTo>
                  <a:cubicBezTo>
                    <a:pt x="0" y="37253"/>
                    <a:pt x="37253" y="0"/>
                    <a:pt x="8320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49785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217988" y="2802203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1692930" y="2794724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392657" y="3401082"/>
            <a:ext cx="5105920" cy="538343"/>
          </a:xfrm>
          <a:custGeom>
            <a:avLst/>
            <a:gdLst/>
            <a:ahLst/>
            <a:cxnLst/>
            <a:rect r="r" b="b" t="t" l="l"/>
            <a:pathLst>
              <a:path h="538343" w="5105920">
                <a:moveTo>
                  <a:pt x="0" y="0"/>
                </a:moveTo>
                <a:lnTo>
                  <a:pt x="5105920" y="0"/>
                </a:lnTo>
                <a:lnTo>
                  <a:pt x="5105920" y="538342"/>
                </a:lnTo>
                <a:lnTo>
                  <a:pt x="0" y="538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67977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43016" y="3939424"/>
            <a:ext cx="3171677" cy="483432"/>
          </a:xfrm>
          <a:custGeom>
            <a:avLst/>
            <a:gdLst/>
            <a:ahLst/>
            <a:cxnLst/>
            <a:rect r="r" b="b" t="t" l="l"/>
            <a:pathLst>
              <a:path h="483432" w="3171677">
                <a:moveTo>
                  <a:pt x="0" y="0"/>
                </a:moveTo>
                <a:lnTo>
                  <a:pt x="3171676" y="0"/>
                </a:lnTo>
                <a:lnTo>
                  <a:pt x="3171676" y="483433"/>
                </a:lnTo>
                <a:lnTo>
                  <a:pt x="0" y="483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2835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914921" y="5261668"/>
            <a:ext cx="4675894" cy="3493911"/>
          </a:xfrm>
          <a:custGeom>
            <a:avLst/>
            <a:gdLst/>
            <a:ahLst/>
            <a:cxnLst/>
            <a:rect r="r" b="b" t="t" l="l"/>
            <a:pathLst>
              <a:path h="3493911" w="4675894">
                <a:moveTo>
                  <a:pt x="0" y="0"/>
                </a:moveTo>
                <a:lnTo>
                  <a:pt x="4675894" y="0"/>
                </a:lnTo>
                <a:lnTo>
                  <a:pt x="4675894" y="3493912"/>
                </a:lnTo>
                <a:lnTo>
                  <a:pt x="0" y="3493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595070" y="5747210"/>
            <a:ext cx="6139219" cy="2522827"/>
          </a:xfrm>
          <a:custGeom>
            <a:avLst/>
            <a:gdLst/>
            <a:ahLst/>
            <a:cxnLst/>
            <a:rect r="r" b="b" t="t" l="l"/>
            <a:pathLst>
              <a:path h="2522827" w="6139219">
                <a:moveTo>
                  <a:pt x="0" y="0"/>
                </a:moveTo>
                <a:lnTo>
                  <a:pt x="6139219" y="0"/>
                </a:lnTo>
                <a:lnTo>
                  <a:pt x="6139219" y="2522828"/>
                </a:lnTo>
                <a:lnTo>
                  <a:pt x="0" y="25228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88245" y="5261668"/>
            <a:ext cx="5686146" cy="3217477"/>
          </a:xfrm>
          <a:custGeom>
            <a:avLst/>
            <a:gdLst/>
            <a:ahLst/>
            <a:cxnLst/>
            <a:rect r="r" b="b" t="t" l="l"/>
            <a:pathLst>
              <a:path h="3217477" w="5686146">
                <a:moveTo>
                  <a:pt x="0" y="0"/>
                </a:moveTo>
                <a:lnTo>
                  <a:pt x="5686146" y="0"/>
                </a:lnTo>
                <a:lnTo>
                  <a:pt x="5686146" y="3217477"/>
                </a:lnTo>
                <a:lnTo>
                  <a:pt x="0" y="32174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883" r="0" b="-3883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413392" y="3137295"/>
            <a:ext cx="4129318" cy="686511"/>
          </a:xfrm>
          <a:custGeom>
            <a:avLst/>
            <a:gdLst/>
            <a:ahLst/>
            <a:cxnLst/>
            <a:rect r="r" b="b" t="t" l="l"/>
            <a:pathLst>
              <a:path h="686511" w="4129318">
                <a:moveTo>
                  <a:pt x="0" y="0"/>
                </a:moveTo>
                <a:lnTo>
                  <a:pt x="4129318" y="0"/>
                </a:lnTo>
                <a:lnTo>
                  <a:pt x="4129318" y="686511"/>
                </a:lnTo>
                <a:lnTo>
                  <a:pt x="0" y="6865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21978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365287" y="3895886"/>
            <a:ext cx="4524236" cy="607191"/>
          </a:xfrm>
          <a:custGeom>
            <a:avLst/>
            <a:gdLst/>
            <a:ahLst/>
            <a:cxnLst/>
            <a:rect r="r" b="b" t="t" l="l"/>
            <a:pathLst>
              <a:path h="607191" w="4524236">
                <a:moveTo>
                  <a:pt x="0" y="0"/>
                </a:moveTo>
                <a:lnTo>
                  <a:pt x="4524236" y="0"/>
                </a:lnTo>
                <a:lnTo>
                  <a:pt x="4524236" y="607191"/>
                </a:lnTo>
                <a:lnTo>
                  <a:pt x="0" y="6071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9193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6595070" y="9940291"/>
            <a:ext cx="509786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751513" y="1642692"/>
            <a:ext cx="9740701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Standard QDC using 6 qubit cluster state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0243" y="2470733"/>
            <a:ext cx="403074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Preparation of 6 qubit cluster state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90900" y="2556458"/>
            <a:ext cx="462319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Encoding operation of Alice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65287" y="2556458"/>
            <a:ext cx="422552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Bob’s decoding operation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876222" y="8930760"/>
            <a:ext cx="5849139" cy="66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6"/>
              </a:lnSpc>
            </a:pPr>
            <a:r>
              <a:rPr lang="en-US" sz="19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Quantum Dense coding circuit using 6 qubit cluster state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074457" y="9060855"/>
            <a:ext cx="6170905" cy="66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6"/>
              </a:lnSpc>
            </a:pPr>
            <a:r>
              <a:rPr lang="en-US" sz="19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Output of Quantum Dense coding circuit using 6 qubit cluster state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803393" y="3236127"/>
            <a:ext cx="2681214" cy="190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7"/>
              </a:lnSpc>
            </a:pPr>
            <a:r>
              <a:rPr lang="en-US" sz="18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 32 orthogonal, distinguishable encoding unitary operators are present </a:t>
            </a:r>
          </a:p>
          <a:p>
            <a:pPr algn="ctr">
              <a:lnSpc>
                <a:spcPts val="2537"/>
              </a:lnSpc>
            </a:pPr>
            <a:r>
              <a:rPr lang="en-US" sz="18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(Ref Sec 3.5.3 in the report)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355" y="298494"/>
            <a:ext cx="17255731" cy="1051613"/>
            <a:chOff x="0" y="0"/>
            <a:chExt cx="4544719" cy="276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719" cy="276968"/>
            </a:xfrm>
            <a:custGeom>
              <a:avLst/>
              <a:gdLst/>
              <a:ahLst/>
              <a:cxnLst/>
              <a:rect r="r" b="b" t="t" l="l"/>
              <a:pathLst>
                <a:path h="276968" w="4544719">
                  <a:moveTo>
                    <a:pt x="22882" y="0"/>
                  </a:moveTo>
                  <a:lnTo>
                    <a:pt x="4521838" y="0"/>
                  </a:lnTo>
                  <a:cubicBezTo>
                    <a:pt x="4534475" y="0"/>
                    <a:pt x="4544719" y="10244"/>
                    <a:pt x="4544719" y="22882"/>
                  </a:cubicBezTo>
                  <a:lnTo>
                    <a:pt x="4544719" y="254086"/>
                  </a:lnTo>
                  <a:cubicBezTo>
                    <a:pt x="4544719" y="266724"/>
                    <a:pt x="4534475" y="276968"/>
                    <a:pt x="4521838" y="276968"/>
                  </a:cubicBezTo>
                  <a:lnTo>
                    <a:pt x="22882" y="276968"/>
                  </a:lnTo>
                  <a:cubicBezTo>
                    <a:pt x="16813" y="276968"/>
                    <a:pt x="10993" y="274557"/>
                    <a:pt x="6702" y="270266"/>
                  </a:cubicBezTo>
                  <a:cubicBezTo>
                    <a:pt x="2411" y="265975"/>
                    <a:pt x="0" y="260155"/>
                    <a:pt x="0" y="254086"/>
                  </a:cubicBezTo>
                  <a:lnTo>
                    <a:pt x="0" y="22882"/>
                  </a:lnTo>
                  <a:cubicBezTo>
                    <a:pt x="0" y="10244"/>
                    <a:pt x="10244" y="0"/>
                    <a:pt x="2288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44719" cy="324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30243" y="387867"/>
            <a:ext cx="16885047" cy="78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9"/>
              </a:lnSpc>
              <a:spcBef>
                <a:spcPct val="0"/>
              </a:spcBef>
            </a:pP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</a:t>
            </a: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ntum dense coding protocols in noiseless environment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751513" y="1639471"/>
            <a:ext cx="9740701" cy="593137"/>
            <a:chOff x="0" y="0"/>
            <a:chExt cx="2565452" cy="156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5452" cy="156217"/>
            </a:xfrm>
            <a:custGeom>
              <a:avLst/>
              <a:gdLst/>
              <a:ahLst/>
              <a:cxnLst/>
              <a:rect r="r" b="b" t="t" l="l"/>
              <a:pathLst>
                <a:path h="156217" w="2565452">
                  <a:moveTo>
                    <a:pt x="0" y="0"/>
                  </a:moveTo>
                  <a:lnTo>
                    <a:pt x="2565452" y="0"/>
                  </a:lnTo>
                  <a:lnTo>
                    <a:pt x="2565452" y="156217"/>
                  </a:lnTo>
                  <a:lnTo>
                    <a:pt x="0" y="156217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565452" cy="203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8355" y="2421533"/>
            <a:ext cx="4404889" cy="922401"/>
            <a:chOff x="0" y="0"/>
            <a:chExt cx="1160135" cy="2429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0135" cy="242937"/>
            </a:xfrm>
            <a:custGeom>
              <a:avLst/>
              <a:gdLst/>
              <a:ahLst/>
              <a:cxnLst/>
              <a:rect r="r" b="b" t="t" l="l"/>
              <a:pathLst>
                <a:path h="242937" w="1160135">
                  <a:moveTo>
                    <a:pt x="89636" y="0"/>
                  </a:moveTo>
                  <a:lnTo>
                    <a:pt x="1070499" y="0"/>
                  </a:lnTo>
                  <a:cubicBezTo>
                    <a:pt x="1120004" y="0"/>
                    <a:pt x="1160135" y="40132"/>
                    <a:pt x="1160135" y="89636"/>
                  </a:cubicBezTo>
                  <a:lnTo>
                    <a:pt x="1160135" y="153301"/>
                  </a:lnTo>
                  <a:cubicBezTo>
                    <a:pt x="1160135" y="202805"/>
                    <a:pt x="1120004" y="242937"/>
                    <a:pt x="1070499" y="242937"/>
                  </a:cubicBezTo>
                  <a:lnTo>
                    <a:pt x="89636" y="242937"/>
                  </a:lnTo>
                  <a:cubicBezTo>
                    <a:pt x="40132" y="242937"/>
                    <a:pt x="0" y="202805"/>
                    <a:pt x="0" y="153301"/>
                  </a:cubicBezTo>
                  <a:lnTo>
                    <a:pt x="0" y="89636"/>
                  </a:lnTo>
                  <a:cubicBezTo>
                    <a:pt x="0" y="40132"/>
                    <a:pt x="40132" y="0"/>
                    <a:pt x="8963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160135" cy="290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95070" y="2429011"/>
            <a:ext cx="5097860" cy="708283"/>
            <a:chOff x="0" y="0"/>
            <a:chExt cx="1342646" cy="1865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2646" cy="186544"/>
            </a:xfrm>
            <a:custGeom>
              <a:avLst/>
              <a:gdLst/>
              <a:ahLst/>
              <a:cxnLst/>
              <a:rect r="r" b="b" t="t" l="l"/>
              <a:pathLst>
                <a:path h="186544" w="1342646">
                  <a:moveTo>
                    <a:pt x="77452" y="0"/>
                  </a:moveTo>
                  <a:lnTo>
                    <a:pt x="1265195" y="0"/>
                  </a:lnTo>
                  <a:cubicBezTo>
                    <a:pt x="1285736" y="0"/>
                    <a:pt x="1305436" y="8160"/>
                    <a:pt x="1319961" y="22685"/>
                  </a:cubicBezTo>
                  <a:cubicBezTo>
                    <a:pt x="1334486" y="37210"/>
                    <a:pt x="1342646" y="56910"/>
                    <a:pt x="1342646" y="77452"/>
                  </a:cubicBezTo>
                  <a:lnTo>
                    <a:pt x="1342646" y="109092"/>
                  </a:lnTo>
                  <a:cubicBezTo>
                    <a:pt x="1342646" y="151867"/>
                    <a:pt x="1307970" y="186544"/>
                    <a:pt x="1265195" y="186544"/>
                  </a:cubicBezTo>
                  <a:lnTo>
                    <a:pt x="77452" y="186544"/>
                  </a:lnTo>
                  <a:cubicBezTo>
                    <a:pt x="34676" y="186544"/>
                    <a:pt x="0" y="151867"/>
                    <a:pt x="0" y="109092"/>
                  </a:cubicBezTo>
                  <a:lnTo>
                    <a:pt x="0" y="77452"/>
                  </a:lnTo>
                  <a:cubicBezTo>
                    <a:pt x="0" y="34676"/>
                    <a:pt x="34676" y="0"/>
                    <a:pt x="77452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42646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70012" y="2429011"/>
            <a:ext cx="4745279" cy="708283"/>
            <a:chOff x="0" y="0"/>
            <a:chExt cx="1249785" cy="1865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9785" cy="186544"/>
            </a:xfrm>
            <a:custGeom>
              <a:avLst/>
              <a:gdLst/>
              <a:ahLst/>
              <a:cxnLst/>
              <a:rect r="r" b="b" t="t" l="l"/>
              <a:pathLst>
                <a:path h="186544" w="1249785">
                  <a:moveTo>
                    <a:pt x="83206" y="0"/>
                  </a:moveTo>
                  <a:lnTo>
                    <a:pt x="1166579" y="0"/>
                  </a:lnTo>
                  <a:cubicBezTo>
                    <a:pt x="1188647" y="0"/>
                    <a:pt x="1209810" y="8766"/>
                    <a:pt x="1225415" y="24371"/>
                  </a:cubicBezTo>
                  <a:cubicBezTo>
                    <a:pt x="1241019" y="39975"/>
                    <a:pt x="1249785" y="61139"/>
                    <a:pt x="1249785" y="83206"/>
                  </a:cubicBezTo>
                  <a:lnTo>
                    <a:pt x="1249785" y="103337"/>
                  </a:lnTo>
                  <a:cubicBezTo>
                    <a:pt x="1249785" y="149291"/>
                    <a:pt x="1212533" y="186544"/>
                    <a:pt x="1166579" y="186544"/>
                  </a:cubicBezTo>
                  <a:lnTo>
                    <a:pt x="83206" y="186544"/>
                  </a:lnTo>
                  <a:cubicBezTo>
                    <a:pt x="37253" y="186544"/>
                    <a:pt x="0" y="149291"/>
                    <a:pt x="0" y="103337"/>
                  </a:cubicBezTo>
                  <a:lnTo>
                    <a:pt x="0" y="83206"/>
                  </a:lnTo>
                  <a:cubicBezTo>
                    <a:pt x="0" y="37253"/>
                    <a:pt x="37253" y="0"/>
                    <a:pt x="8320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49785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217988" y="2802203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1692930" y="2794724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6292654" y="3295598"/>
            <a:ext cx="5702692" cy="5349448"/>
          </a:xfrm>
          <a:custGeom>
            <a:avLst/>
            <a:gdLst/>
            <a:ahLst/>
            <a:cxnLst/>
            <a:rect r="r" b="b" t="t" l="l"/>
            <a:pathLst>
              <a:path h="5349448" w="5702692">
                <a:moveTo>
                  <a:pt x="0" y="0"/>
                </a:moveTo>
                <a:lnTo>
                  <a:pt x="5702692" y="0"/>
                </a:lnTo>
                <a:lnTo>
                  <a:pt x="5702692" y="5349448"/>
                </a:lnTo>
                <a:lnTo>
                  <a:pt x="0" y="53494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603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595070" y="9940291"/>
            <a:ext cx="509786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751513" y="1642692"/>
            <a:ext cx="9740701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Standard QDC using 6 qubit cluster state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0243" y="2470733"/>
            <a:ext cx="403074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Preparation of 6 qubit cluster state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90900" y="2556458"/>
            <a:ext cx="462319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Encoding operation of Alice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365287" y="2556458"/>
            <a:ext cx="422552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Bob’s decoding operation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491651" y="8429864"/>
            <a:ext cx="5849139" cy="100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6"/>
              </a:lnSpc>
            </a:pPr>
            <a:r>
              <a:rPr lang="en-US" sz="19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Visualization of total 64 encoded cluster states where all encoded states are not perfectly distinguishable by Bob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7250" y="2727290"/>
            <a:ext cx="17851600" cy="3721953"/>
            <a:chOff x="0" y="0"/>
            <a:chExt cx="4701656" cy="9802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656" cy="980267"/>
            </a:xfrm>
            <a:custGeom>
              <a:avLst/>
              <a:gdLst/>
              <a:ahLst/>
              <a:cxnLst/>
              <a:rect r="r" b="b" t="t" l="l"/>
              <a:pathLst>
                <a:path h="980267" w="4701656">
                  <a:moveTo>
                    <a:pt x="22118" y="0"/>
                  </a:moveTo>
                  <a:lnTo>
                    <a:pt x="4679538" y="0"/>
                  </a:lnTo>
                  <a:cubicBezTo>
                    <a:pt x="4691754" y="0"/>
                    <a:pt x="4701656" y="9902"/>
                    <a:pt x="4701656" y="22118"/>
                  </a:cubicBezTo>
                  <a:lnTo>
                    <a:pt x="4701656" y="958149"/>
                  </a:lnTo>
                  <a:cubicBezTo>
                    <a:pt x="4701656" y="964015"/>
                    <a:pt x="4699326" y="969641"/>
                    <a:pt x="4695178" y="973789"/>
                  </a:cubicBezTo>
                  <a:cubicBezTo>
                    <a:pt x="4691030" y="977937"/>
                    <a:pt x="4685404" y="980267"/>
                    <a:pt x="4679538" y="980267"/>
                  </a:cubicBezTo>
                  <a:lnTo>
                    <a:pt x="22118" y="980267"/>
                  </a:lnTo>
                  <a:cubicBezTo>
                    <a:pt x="9902" y="980267"/>
                    <a:pt x="0" y="970365"/>
                    <a:pt x="0" y="958149"/>
                  </a:cubicBezTo>
                  <a:lnTo>
                    <a:pt x="0" y="22118"/>
                  </a:lnTo>
                  <a:cubicBezTo>
                    <a:pt x="0" y="16252"/>
                    <a:pt x="2330" y="10626"/>
                    <a:pt x="6478" y="6478"/>
                  </a:cubicBezTo>
                  <a:cubicBezTo>
                    <a:pt x="10626" y="2330"/>
                    <a:pt x="16252" y="0"/>
                    <a:pt x="2211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701656" cy="1027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100" y="2632764"/>
            <a:ext cx="18249900" cy="365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7"/>
              </a:lnSpc>
            </a:pPr>
            <a:r>
              <a:rPr lang="en-US" sz="697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Chapter-III</a:t>
            </a:r>
          </a:p>
          <a:p>
            <a:pPr algn="ctr">
              <a:lnSpc>
                <a:spcPts val="9767"/>
              </a:lnSpc>
              <a:spcBef>
                <a:spcPct val="0"/>
              </a:spcBef>
            </a:pPr>
            <a:r>
              <a:rPr lang="en-US" b="true" sz="697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Quantum dense coding protocols in noisy environment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614120" y="9940291"/>
            <a:ext cx="5097860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355" y="298494"/>
            <a:ext cx="17255731" cy="1051613"/>
            <a:chOff x="0" y="0"/>
            <a:chExt cx="4544719" cy="276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719" cy="276968"/>
            </a:xfrm>
            <a:custGeom>
              <a:avLst/>
              <a:gdLst/>
              <a:ahLst/>
              <a:cxnLst/>
              <a:rect r="r" b="b" t="t" l="l"/>
              <a:pathLst>
                <a:path h="276968" w="4544719">
                  <a:moveTo>
                    <a:pt x="22882" y="0"/>
                  </a:moveTo>
                  <a:lnTo>
                    <a:pt x="4521838" y="0"/>
                  </a:lnTo>
                  <a:cubicBezTo>
                    <a:pt x="4534475" y="0"/>
                    <a:pt x="4544719" y="10244"/>
                    <a:pt x="4544719" y="22882"/>
                  </a:cubicBezTo>
                  <a:lnTo>
                    <a:pt x="4544719" y="254086"/>
                  </a:lnTo>
                  <a:cubicBezTo>
                    <a:pt x="4544719" y="266724"/>
                    <a:pt x="4534475" y="276968"/>
                    <a:pt x="4521838" y="276968"/>
                  </a:cubicBezTo>
                  <a:lnTo>
                    <a:pt x="22882" y="276968"/>
                  </a:lnTo>
                  <a:cubicBezTo>
                    <a:pt x="16813" y="276968"/>
                    <a:pt x="10993" y="274557"/>
                    <a:pt x="6702" y="270266"/>
                  </a:cubicBezTo>
                  <a:cubicBezTo>
                    <a:pt x="2411" y="265975"/>
                    <a:pt x="0" y="260155"/>
                    <a:pt x="0" y="254086"/>
                  </a:cubicBezTo>
                  <a:lnTo>
                    <a:pt x="0" y="22882"/>
                  </a:lnTo>
                  <a:cubicBezTo>
                    <a:pt x="0" y="10244"/>
                    <a:pt x="10244" y="0"/>
                    <a:pt x="2288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44719" cy="324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90581" y="387867"/>
            <a:ext cx="15764371" cy="78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9"/>
              </a:lnSpc>
              <a:spcBef>
                <a:spcPct val="0"/>
              </a:spcBef>
            </a:pP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</a:t>
            </a: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ntum dense coding protocols in noisy environment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711353" y="1639471"/>
            <a:ext cx="13485299" cy="593137"/>
            <a:chOff x="0" y="0"/>
            <a:chExt cx="3551684" cy="156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51684" cy="156217"/>
            </a:xfrm>
            <a:custGeom>
              <a:avLst/>
              <a:gdLst/>
              <a:ahLst/>
              <a:cxnLst/>
              <a:rect r="r" b="b" t="t" l="l"/>
              <a:pathLst>
                <a:path h="156217" w="3551684">
                  <a:moveTo>
                    <a:pt x="0" y="0"/>
                  </a:moveTo>
                  <a:lnTo>
                    <a:pt x="3551684" y="0"/>
                  </a:lnTo>
                  <a:lnTo>
                    <a:pt x="3551684" y="156217"/>
                  </a:lnTo>
                  <a:lnTo>
                    <a:pt x="0" y="156217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551684" cy="203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8355" y="2421533"/>
            <a:ext cx="4404889" cy="922401"/>
            <a:chOff x="0" y="0"/>
            <a:chExt cx="1160135" cy="2429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0135" cy="242937"/>
            </a:xfrm>
            <a:custGeom>
              <a:avLst/>
              <a:gdLst/>
              <a:ahLst/>
              <a:cxnLst/>
              <a:rect r="r" b="b" t="t" l="l"/>
              <a:pathLst>
                <a:path h="242937" w="1160135">
                  <a:moveTo>
                    <a:pt x="89636" y="0"/>
                  </a:moveTo>
                  <a:lnTo>
                    <a:pt x="1070499" y="0"/>
                  </a:lnTo>
                  <a:cubicBezTo>
                    <a:pt x="1120004" y="0"/>
                    <a:pt x="1160135" y="40132"/>
                    <a:pt x="1160135" y="89636"/>
                  </a:cubicBezTo>
                  <a:lnTo>
                    <a:pt x="1160135" y="153301"/>
                  </a:lnTo>
                  <a:cubicBezTo>
                    <a:pt x="1160135" y="202805"/>
                    <a:pt x="1120004" y="242937"/>
                    <a:pt x="1070499" y="242937"/>
                  </a:cubicBezTo>
                  <a:lnTo>
                    <a:pt x="89636" y="242937"/>
                  </a:lnTo>
                  <a:cubicBezTo>
                    <a:pt x="40132" y="242937"/>
                    <a:pt x="0" y="202805"/>
                    <a:pt x="0" y="153301"/>
                  </a:cubicBezTo>
                  <a:lnTo>
                    <a:pt x="0" y="89636"/>
                  </a:lnTo>
                  <a:cubicBezTo>
                    <a:pt x="0" y="40132"/>
                    <a:pt x="40132" y="0"/>
                    <a:pt x="8963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160135" cy="290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95070" y="2429011"/>
            <a:ext cx="5097860" cy="708283"/>
            <a:chOff x="0" y="0"/>
            <a:chExt cx="1342646" cy="1865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2646" cy="186544"/>
            </a:xfrm>
            <a:custGeom>
              <a:avLst/>
              <a:gdLst/>
              <a:ahLst/>
              <a:cxnLst/>
              <a:rect r="r" b="b" t="t" l="l"/>
              <a:pathLst>
                <a:path h="186544" w="1342646">
                  <a:moveTo>
                    <a:pt x="77452" y="0"/>
                  </a:moveTo>
                  <a:lnTo>
                    <a:pt x="1265195" y="0"/>
                  </a:lnTo>
                  <a:cubicBezTo>
                    <a:pt x="1285736" y="0"/>
                    <a:pt x="1305436" y="8160"/>
                    <a:pt x="1319961" y="22685"/>
                  </a:cubicBezTo>
                  <a:cubicBezTo>
                    <a:pt x="1334486" y="37210"/>
                    <a:pt x="1342646" y="56910"/>
                    <a:pt x="1342646" y="77452"/>
                  </a:cubicBezTo>
                  <a:lnTo>
                    <a:pt x="1342646" y="109092"/>
                  </a:lnTo>
                  <a:cubicBezTo>
                    <a:pt x="1342646" y="151867"/>
                    <a:pt x="1307970" y="186544"/>
                    <a:pt x="1265195" y="186544"/>
                  </a:cubicBezTo>
                  <a:lnTo>
                    <a:pt x="77452" y="186544"/>
                  </a:lnTo>
                  <a:cubicBezTo>
                    <a:pt x="34676" y="186544"/>
                    <a:pt x="0" y="151867"/>
                    <a:pt x="0" y="109092"/>
                  </a:cubicBezTo>
                  <a:lnTo>
                    <a:pt x="0" y="77452"/>
                  </a:lnTo>
                  <a:cubicBezTo>
                    <a:pt x="0" y="34676"/>
                    <a:pt x="34676" y="0"/>
                    <a:pt x="77452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42646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70012" y="2429011"/>
            <a:ext cx="4745279" cy="708283"/>
            <a:chOff x="0" y="0"/>
            <a:chExt cx="1249785" cy="1865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9785" cy="186544"/>
            </a:xfrm>
            <a:custGeom>
              <a:avLst/>
              <a:gdLst/>
              <a:ahLst/>
              <a:cxnLst/>
              <a:rect r="r" b="b" t="t" l="l"/>
              <a:pathLst>
                <a:path h="186544" w="1249785">
                  <a:moveTo>
                    <a:pt x="83206" y="0"/>
                  </a:moveTo>
                  <a:lnTo>
                    <a:pt x="1166579" y="0"/>
                  </a:lnTo>
                  <a:cubicBezTo>
                    <a:pt x="1188647" y="0"/>
                    <a:pt x="1209810" y="8766"/>
                    <a:pt x="1225415" y="24371"/>
                  </a:cubicBezTo>
                  <a:cubicBezTo>
                    <a:pt x="1241019" y="39975"/>
                    <a:pt x="1249785" y="61139"/>
                    <a:pt x="1249785" y="83206"/>
                  </a:cubicBezTo>
                  <a:lnTo>
                    <a:pt x="1249785" y="103337"/>
                  </a:lnTo>
                  <a:cubicBezTo>
                    <a:pt x="1249785" y="149291"/>
                    <a:pt x="1212533" y="186544"/>
                    <a:pt x="1166579" y="186544"/>
                  </a:cubicBezTo>
                  <a:lnTo>
                    <a:pt x="83206" y="186544"/>
                  </a:lnTo>
                  <a:cubicBezTo>
                    <a:pt x="37253" y="186544"/>
                    <a:pt x="0" y="149291"/>
                    <a:pt x="0" y="103337"/>
                  </a:cubicBezTo>
                  <a:lnTo>
                    <a:pt x="0" y="83206"/>
                  </a:lnTo>
                  <a:cubicBezTo>
                    <a:pt x="0" y="37253"/>
                    <a:pt x="37253" y="0"/>
                    <a:pt x="8320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49785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217988" y="2802203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1692930" y="2794724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408093" y="4117024"/>
            <a:ext cx="3296588" cy="511970"/>
          </a:xfrm>
          <a:custGeom>
            <a:avLst/>
            <a:gdLst/>
            <a:ahLst/>
            <a:cxnLst/>
            <a:rect r="r" b="b" t="t" l="l"/>
            <a:pathLst>
              <a:path h="511970" w="3296588">
                <a:moveTo>
                  <a:pt x="0" y="0"/>
                </a:moveTo>
                <a:lnTo>
                  <a:pt x="3296588" y="0"/>
                </a:lnTo>
                <a:lnTo>
                  <a:pt x="3296588" y="511970"/>
                </a:lnTo>
                <a:lnTo>
                  <a:pt x="0" y="511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46757" y="4628994"/>
            <a:ext cx="1733594" cy="2283777"/>
          </a:xfrm>
          <a:custGeom>
            <a:avLst/>
            <a:gdLst/>
            <a:ahLst/>
            <a:cxnLst/>
            <a:rect r="r" b="b" t="t" l="l"/>
            <a:pathLst>
              <a:path h="2283777" w="1733594">
                <a:moveTo>
                  <a:pt x="0" y="0"/>
                </a:moveTo>
                <a:lnTo>
                  <a:pt x="1733594" y="0"/>
                </a:lnTo>
                <a:lnTo>
                  <a:pt x="1733594" y="2283777"/>
                </a:lnTo>
                <a:lnTo>
                  <a:pt x="0" y="22837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13348" y="3705884"/>
            <a:ext cx="3686077" cy="3206887"/>
          </a:xfrm>
          <a:custGeom>
            <a:avLst/>
            <a:gdLst/>
            <a:ahLst/>
            <a:cxnLst/>
            <a:rect r="r" b="b" t="t" l="l"/>
            <a:pathLst>
              <a:path h="3206887" w="3686077">
                <a:moveTo>
                  <a:pt x="0" y="0"/>
                </a:moveTo>
                <a:lnTo>
                  <a:pt x="3686077" y="0"/>
                </a:lnTo>
                <a:lnTo>
                  <a:pt x="3686077" y="3206887"/>
                </a:lnTo>
                <a:lnTo>
                  <a:pt x="0" y="32068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79314" y="8076880"/>
            <a:ext cx="2754145" cy="830294"/>
          </a:xfrm>
          <a:custGeom>
            <a:avLst/>
            <a:gdLst/>
            <a:ahLst/>
            <a:cxnLst/>
            <a:rect r="r" b="b" t="t" l="l"/>
            <a:pathLst>
              <a:path h="830294" w="2754145">
                <a:moveTo>
                  <a:pt x="0" y="0"/>
                </a:moveTo>
                <a:lnTo>
                  <a:pt x="2754145" y="0"/>
                </a:lnTo>
                <a:lnTo>
                  <a:pt x="2754145" y="830294"/>
                </a:lnTo>
                <a:lnTo>
                  <a:pt x="0" y="8302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84084" y="7305789"/>
            <a:ext cx="1911941" cy="409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8"/>
              </a:lnSpc>
            </a:pPr>
            <a:r>
              <a:rPr lang="en-US" sz="237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State fidelity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609981" y="7169946"/>
            <a:ext cx="2668911" cy="2321953"/>
          </a:xfrm>
          <a:custGeom>
            <a:avLst/>
            <a:gdLst/>
            <a:ahLst/>
            <a:cxnLst/>
            <a:rect r="r" b="b" t="t" l="l"/>
            <a:pathLst>
              <a:path h="2321953" w="2668911">
                <a:moveTo>
                  <a:pt x="0" y="0"/>
                </a:moveTo>
                <a:lnTo>
                  <a:pt x="2668912" y="0"/>
                </a:lnTo>
                <a:lnTo>
                  <a:pt x="2668912" y="2321953"/>
                </a:lnTo>
                <a:lnTo>
                  <a:pt x="0" y="23219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218160" y="5650478"/>
            <a:ext cx="4825926" cy="3592634"/>
          </a:xfrm>
          <a:custGeom>
            <a:avLst/>
            <a:gdLst/>
            <a:ahLst/>
            <a:cxnLst/>
            <a:rect r="r" b="b" t="t" l="l"/>
            <a:pathLst>
              <a:path h="3592634" w="4825926">
                <a:moveTo>
                  <a:pt x="0" y="0"/>
                </a:moveTo>
                <a:lnTo>
                  <a:pt x="4825925" y="0"/>
                </a:lnTo>
                <a:lnTo>
                  <a:pt x="4825925" y="3592634"/>
                </a:lnTo>
                <a:lnTo>
                  <a:pt x="0" y="35926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890900" y="3137295"/>
            <a:ext cx="8587151" cy="2309313"/>
          </a:xfrm>
          <a:custGeom>
            <a:avLst/>
            <a:gdLst/>
            <a:ahLst/>
            <a:cxnLst/>
            <a:rect r="r" b="b" t="t" l="l"/>
            <a:pathLst>
              <a:path h="2309313" w="8587151">
                <a:moveTo>
                  <a:pt x="0" y="0"/>
                </a:moveTo>
                <a:lnTo>
                  <a:pt x="8587151" y="0"/>
                </a:lnTo>
                <a:lnTo>
                  <a:pt x="8587151" y="2309312"/>
                </a:lnTo>
                <a:lnTo>
                  <a:pt x="0" y="23093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108418" y="5715998"/>
            <a:ext cx="4737913" cy="3527113"/>
          </a:xfrm>
          <a:custGeom>
            <a:avLst/>
            <a:gdLst/>
            <a:ahLst/>
            <a:cxnLst/>
            <a:rect r="r" b="b" t="t" l="l"/>
            <a:pathLst>
              <a:path h="3527113" w="4737913">
                <a:moveTo>
                  <a:pt x="0" y="0"/>
                </a:moveTo>
                <a:lnTo>
                  <a:pt x="4737913" y="0"/>
                </a:lnTo>
                <a:lnTo>
                  <a:pt x="4737913" y="3527114"/>
                </a:lnTo>
                <a:lnTo>
                  <a:pt x="0" y="35271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846331" y="5738556"/>
            <a:ext cx="4724772" cy="3524830"/>
          </a:xfrm>
          <a:custGeom>
            <a:avLst/>
            <a:gdLst/>
            <a:ahLst/>
            <a:cxnLst/>
            <a:rect r="r" b="b" t="t" l="l"/>
            <a:pathLst>
              <a:path h="3524830" w="4724772">
                <a:moveTo>
                  <a:pt x="0" y="0"/>
                </a:moveTo>
                <a:lnTo>
                  <a:pt x="4724772" y="0"/>
                </a:lnTo>
                <a:lnTo>
                  <a:pt x="4724772" y="3524830"/>
                </a:lnTo>
                <a:lnTo>
                  <a:pt x="0" y="352483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6595070" y="9940291"/>
            <a:ext cx="509786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9267" y="1563271"/>
            <a:ext cx="16301548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QDC over bit flip channel- QDC Protocol using Bell state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0243" y="2470733"/>
            <a:ext cx="403074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Preparation of Bell state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90900" y="2556458"/>
            <a:ext cx="462319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Encoding operation of Alice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365287" y="2556458"/>
            <a:ext cx="422552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Bob’s decoding operation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9620" y="3719853"/>
            <a:ext cx="1964035" cy="34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Bit flip channel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740553" y="5226040"/>
            <a:ext cx="10936329" cy="40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4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Quantum circuit for dense coding using Bell state with bit flip noise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740553" y="9244336"/>
            <a:ext cx="10936329" cy="40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4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Output fidelity when noise parameter is 0.1, 0.5, 0.9 respectively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355" y="298494"/>
            <a:ext cx="17255731" cy="1051613"/>
            <a:chOff x="0" y="0"/>
            <a:chExt cx="4544719" cy="276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719" cy="276968"/>
            </a:xfrm>
            <a:custGeom>
              <a:avLst/>
              <a:gdLst/>
              <a:ahLst/>
              <a:cxnLst/>
              <a:rect r="r" b="b" t="t" l="l"/>
              <a:pathLst>
                <a:path h="276968" w="4544719">
                  <a:moveTo>
                    <a:pt x="22882" y="0"/>
                  </a:moveTo>
                  <a:lnTo>
                    <a:pt x="4521838" y="0"/>
                  </a:lnTo>
                  <a:cubicBezTo>
                    <a:pt x="4534475" y="0"/>
                    <a:pt x="4544719" y="10244"/>
                    <a:pt x="4544719" y="22882"/>
                  </a:cubicBezTo>
                  <a:lnTo>
                    <a:pt x="4544719" y="254086"/>
                  </a:lnTo>
                  <a:cubicBezTo>
                    <a:pt x="4544719" y="266724"/>
                    <a:pt x="4534475" y="276968"/>
                    <a:pt x="4521838" y="276968"/>
                  </a:cubicBezTo>
                  <a:lnTo>
                    <a:pt x="22882" y="276968"/>
                  </a:lnTo>
                  <a:cubicBezTo>
                    <a:pt x="16813" y="276968"/>
                    <a:pt x="10993" y="274557"/>
                    <a:pt x="6702" y="270266"/>
                  </a:cubicBezTo>
                  <a:cubicBezTo>
                    <a:pt x="2411" y="265975"/>
                    <a:pt x="0" y="260155"/>
                    <a:pt x="0" y="254086"/>
                  </a:cubicBezTo>
                  <a:lnTo>
                    <a:pt x="0" y="22882"/>
                  </a:lnTo>
                  <a:cubicBezTo>
                    <a:pt x="0" y="10244"/>
                    <a:pt x="10244" y="0"/>
                    <a:pt x="2288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44719" cy="324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90581" y="387867"/>
            <a:ext cx="15764371" cy="78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9"/>
              </a:lnSpc>
              <a:spcBef>
                <a:spcPct val="0"/>
              </a:spcBef>
            </a:pP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</a:t>
            </a: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ntum dense coding protocols in noisy environment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75173" y="1639471"/>
            <a:ext cx="15784127" cy="593137"/>
            <a:chOff x="0" y="0"/>
            <a:chExt cx="4157136" cy="156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57137" cy="156217"/>
            </a:xfrm>
            <a:custGeom>
              <a:avLst/>
              <a:gdLst/>
              <a:ahLst/>
              <a:cxnLst/>
              <a:rect r="r" b="b" t="t" l="l"/>
              <a:pathLst>
                <a:path h="156217" w="4157137">
                  <a:moveTo>
                    <a:pt x="0" y="0"/>
                  </a:moveTo>
                  <a:lnTo>
                    <a:pt x="4157137" y="0"/>
                  </a:lnTo>
                  <a:lnTo>
                    <a:pt x="4157137" y="156217"/>
                  </a:lnTo>
                  <a:lnTo>
                    <a:pt x="0" y="156217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157136" cy="203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8355" y="2421533"/>
            <a:ext cx="4404889" cy="922401"/>
            <a:chOff x="0" y="0"/>
            <a:chExt cx="1160135" cy="2429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0135" cy="242937"/>
            </a:xfrm>
            <a:custGeom>
              <a:avLst/>
              <a:gdLst/>
              <a:ahLst/>
              <a:cxnLst/>
              <a:rect r="r" b="b" t="t" l="l"/>
              <a:pathLst>
                <a:path h="242937" w="1160135">
                  <a:moveTo>
                    <a:pt x="89636" y="0"/>
                  </a:moveTo>
                  <a:lnTo>
                    <a:pt x="1070499" y="0"/>
                  </a:lnTo>
                  <a:cubicBezTo>
                    <a:pt x="1120004" y="0"/>
                    <a:pt x="1160135" y="40132"/>
                    <a:pt x="1160135" y="89636"/>
                  </a:cubicBezTo>
                  <a:lnTo>
                    <a:pt x="1160135" y="153301"/>
                  </a:lnTo>
                  <a:cubicBezTo>
                    <a:pt x="1160135" y="202805"/>
                    <a:pt x="1120004" y="242937"/>
                    <a:pt x="1070499" y="242937"/>
                  </a:cubicBezTo>
                  <a:lnTo>
                    <a:pt x="89636" y="242937"/>
                  </a:lnTo>
                  <a:cubicBezTo>
                    <a:pt x="40132" y="242937"/>
                    <a:pt x="0" y="202805"/>
                    <a:pt x="0" y="153301"/>
                  </a:cubicBezTo>
                  <a:lnTo>
                    <a:pt x="0" y="89636"/>
                  </a:lnTo>
                  <a:cubicBezTo>
                    <a:pt x="0" y="40132"/>
                    <a:pt x="40132" y="0"/>
                    <a:pt x="8963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160135" cy="290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95070" y="2429011"/>
            <a:ext cx="5097860" cy="708283"/>
            <a:chOff x="0" y="0"/>
            <a:chExt cx="1342646" cy="1865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2646" cy="186544"/>
            </a:xfrm>
            <a:custGeom>
              <a:avLst/>
              <a:gdLst/>
              <a:ahLst/>
              <a:cxnLst/>
              <a:rect r="r" b="b" t="t" l="l"/>
              <a:pathLst>
                <a:path h="186544" w="1342646">
                  <a:moveTo>
                    <a:pt x="77452" y="0"/>
                  </a:moveTo>
                  <a:lnTo>
                    <a:pt x="1265195" y="0"/>
                  </a:lnTo>
                  <a:cubicBezTo>
                    <a:pt x="1285736" y="0"/>
                    <a:pt x="1305436" y="8160"/>
                    <a:pt x="1319961" y="22685"/>
                  </a:cubicBezTo>
                  <a:cubicBezTo>
                    <a:pt x="1334486" y="37210"/>
                    <a:pt x="1342646" y="56910"/>
                    <a:pt x="1342646" y="77452"/>
                  </a:cubicBezTo>
                  <a:lnTo>
                    <a:pt x="1342646" y="109092"/>
                  </a:lnTo>
                  <a:cubicBezTo>
                    <a:pt x="1342646" y="151867"/>
                    <a:pt x="1307970" y="186544"/>
                    <a:pt x="1265195" y="186544"/>
                  </a:cubicBezTo>
                  <a:lnTo>
                    <a:pt x="77452" y="186544"/>
                  </a:lnTo>
                  <a:cubicBezTo>
                    <a:pt x="34676" y="186544"/>
                    <a:pt x="0" y="151867"/>
                    <a:pt x="0" y="109092"/>
                  </a:cubicBezTo>
                  <a:lnTo>
                    <a:pt x="0" y="77452"/>
                  </a:lnTo>
                  <a:cubicBezTo>
                    <a:pt x="0" y="34676"/>
                    <a:pt x="34676" y="0"/>
                    <a:pt x="77452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42646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70012" y="2429011"/>
            <a:ext cx="4745279" cy="708283"/>
            <a:chOff x="0" y="0"/>
            <a:chExt cx="1249785" cy="1865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9785" cy="186544"/>
            </a:xfrm>
            <a:custGeom>
              <a:avLst/>
              <a:gdLst/>
              <a:ahLst/>
              <a:cxnLst/>
              <a:rect r="r" b="b" t="t" l="l"/>
              <a:pathLst>
                <a:path h="186544" w="1249785">
                  <a:moveTo>
                    <a:pt x="83206" y="0"/>
                  </a:moveTo>
                  <a:lnTo>
                    <a:pt x="1166579" y="0"/>
                  </a:lnTo>
                  <a:cubicBezTo>
                    <a:pt x="1188647" y="0"/>
                    <a:pt x="1209810" y="8766"/>
                    <a:pt x="1225415" y="24371"/>
                  </a:cubicBezTo>
                  <a:cubicBezTo>
                    <a:pt x="1241019" y="39975"/>
                    <a:pt x="1249785" y="61139"/>
                    <a:pt x="1249785" y="83206"/>
                  </a:cubicBezTo>
                  <a:lnTo>
                    <a:pt x="1249785" y="103337"/>
                  </a:lnTo>
                  <a:cubicBezTo>
                    <a:pt x="1249785" y="149291"/>
                    <a:pt x="1212533" y="186544"/>
                    <a:pt x="1166579" y="186544"/>
                  </a:cubicBezTo>
                  <a:lnTo>
                    <a:pt x="83206" y="186544"/>
                  </a:lnTo>
                  <a:cubicBezTo>
                    <a:pt x="37253" y="186544"/>
                    <a:pt x="0" y="149291"/>
                    <a:pt x="0" y="103337"/>
                  </a:cubicBezTo>
                  <a:lnTo>
                    <a:pt x="0" y="83206"/>
                  </a:lnTo>
                  <a:cubicBezTo>
                    <a:pt x="0" y="37253"/>
                    <a:pt x="37253" y="0"/>
                    <a:pt x="8320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49785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217988" y="2802203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1692930" y="2794724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408093" y="4117024"/>
            <a:ext cx="3296588" cy="511970"/>
          </a:xfrm>
          <a:custGeom>
            <a:avLst/>
            <a:gdLst/>
            <a:ahLst/>
            <a:cxnLst/>
            <a:rect r="r" b="b" t="t" l="l"/>
            <a:pathLst>
              <a:path h="511970" w="3296588">
                <a:moveTo>
                  <a:pt x="0" y="0"/>
                </a:moveTo>
                <a:lnTo>
                  <a:pt x="3296588" y="0"/>
                </a:lnTo>
                <a:lnTo>
                  <a:pt x="3296588" y="511970"/>
                </a:lnTo>
                <a:lnTo>
                  <a:pt x="0" y="511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46757" y="4628994"/>
            <a:ext cx="1733594" cy="2283777"/>
          </a:xfrm>
          <a:custGeom>
            <a:avLst/>
            <a:gdLst/>
            <a:ahLst/>
            <a:cxnLst/>
            <a:rect r="r" b="b" t="t" l="l"/>
            <a:pathLst>
              <a:path h="2283777" w="1733594">
                <a:moveTo>
                  <a:pt x="0" y="0"/>
                </a:moveTo>
                <a:lnTo>
                  <a:pt x="1733594" y="0"/>
                </a:lnTo>
                <a:lnTo>
                  <a:pt x="1733594" y="2283777"/>
                </a:lnTo>
                <a:lnTo>
                  <a:pt x="0" y="22837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13348" y="3705884"/>
            <a:ext cx="3686077" cy="3206887"/>
          </a:xfrm>
          <a:custGeom>
            <a:avLst/>
            <a:gdLst/>
            <a:ahLst/>
            <a:cxnLst/>
            <a:rect r="r" b="b" t="t" l="l"/>
            <a:pathLst>
              <a:path h="3206887" w="3686077">
                <a:moveTo>
                  <a:pt x="0" y="0"/>
                </a:moveTo>
                <a:lnTo>
                  <a:pt x="3686077" y="0"/>
                </a:lnTo>
                <a:lnTo>
                  <a:pt x="3686077" y="3206887"/>
                </a:lnTo>
                <a:lnTo>
                  <a:pt x="0" y="32068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79314" y="8076880"/>
            <a:ext cx="2754145" cy="830294"/>
          </a:xfrm>
          <a:custGeom>
            <a:avLst/>
            <a:gdLst/>
            <a:ahLst/>
            <a:cxnLst/>
            <a:rect r="r" b="b" t="t" l="l"/>
            <a:pathLst>
              <a:path h="830294" w="2754145">
                <a:moveTo>
                  <a:pt x="0" y="0"/>
                </a:moveTo>
                <a:lnTo>
                  <a:pt x="2754145" y="0"/>
                </a:lnTo>
                <a:lnTo>
                  <a:pt x="2754145" y="830294"/>
                </a:lnTo>
                <a:lnTo>
                  <a:pt x="0" y="8302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84084" y="7305789"/>
            <a:ext cx="1911941" cy="409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8"/>
              </a:lnSpc>
            </a:pPr>
            <a:r>
              <a:rPr lang="en-US" sz="237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State fidelity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609981" y="7169946"/>
            <a:ext cx="2668911" cy="2321953"/>
          </a:xfrm>
          <a:custGeom>
            <a:avLst/>
            <a:gdLst/>
            <a:ahLst/>
            <a:cxnLst/>
            <a:rect r="r" b="b" t="t" l="l"/>
            <a:pathLst>
              <a:path h="2321953" w="2668911">
                <a:moveTo>
                  <a:pt x="0" y="0"/>
                </a:moveTo>
                <a:lnTo>
                  <a:pt x="2668912" y="0"/>
                </a:lnTo>
                <a:lnTo>
                  <a:pt x="2668912" y="2321953"/>
                </a:lnTo>
                <a:lnTo>
                  <a:pt x="0" y="23219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562187" y="5712948"/>
            <a:ext cx="4481898" cy="3343638"/>
          </a:xfrm>
          <a:custGeom>
            <a:avLst/>
            <a:gdLst/>
            <a:ahLst/>
            <a:cxnLst/>
            <a:rect r="r" b="b" t="t" l="l"/>
            <a:pathLst>
              <a:path h="3343638" w="4481898">
                <a:moveTo>
                  <a:pt x="0" y="0"/>
                </a:moveTo>
                <a:lnTo>
                  <a:pt x="4481898" y="0"/>
                </a:lnTo>
                <a:lnTo>
                  <a:pt x="4481898" y="3343638"/>
                </a:lnTo>
                <a:lnTo>
                  <a:pt x="0" y="33436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890900" y="3199482"/>
            <a:ext cx="8350242" cy="2347053"/>
          </a:xfrm>
          <a:custGeom>
            <a:avLst/>
            <a:gdLst/>
            <a:ahLst/>
            <a:cxnLst/>
            <a:rect r="r" b="b" t="t" l="l"/>
            <a:pathLst>
              <a:path h="2347053" w="8350242">
                <a:moveTo>
                  <a:pt x="0" y="0"/>
                </a:moveTo>
                <a:lnTo>
                  <a:pt x="8350242" y="0"/>
                </a:lnTo>
                <a:lnTo>
                  <a:pt x="8350242" y="2347054"/>
                </a:lnTo>
                <a:lnTo>
                  <a:pt x="0" y="23470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096409" y="5741155"/>
            <a:ext cx="4596587" cy="3429200"/>
          </a:xfrm>
          <a:custGeom>
            <a:avLst/>
            <a:gdLst/>
            <a:ahLst/>
            <a:cxnLst/>
            <a:rect r="r" b="b" t="t" l="l"/>
            <a:pathLst>
              <a:path h="3429200" w="4596587">
                <a:moveTo>
                  <a:pt x="0" y="0"/>
                </a:moveTo>
                <a:lnTo>
                  <a:pt x="4596587" y="0"/>
                </a:lnTo>
                <a:lnTo>
                  <a:pt x="4596587" y="3429200"/>
                </a:lnTo>
                <a:lnTo>
                  <a:pt x="0" y="34292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791488" y="5712948"/>
            <a:ext cx="4672208" cy="3485615"/>
          </a:xfrm>
          <a:custGeom>
            <a:avLst/>
            <a:gdLst/>
            <a:ahLst/>
            <a:cxnLst/>
            <a:rect r="r" b="b" t="t" l="l"/>
            <a:pathLst>
              <a:path h="3485615" w="4672208">
                <a:moveTo>
                  <a:pt x="0" y="0"/>
                </a:moveTo>
                <a:lnTo>
                  <a:pt x="4672207" y="0"/>
                </a:lnTo>
                <a:lnTo>
                  <a:pt x="4672207" y="3485615"/>
                </a:lnTo>
                <a:lnTo>
                  <a:pt x="0" y="34856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6595070" y="9940291"/>
            <a:ext cx="509786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9267" y="1563271"/>
            <a:ext cx="16301548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QDC over bit flip channel- QDC Protocol using 3 qubit GHZ state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0243" y="2470733"/>
            <a:ext cx="403074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Preparation of 3 qubit GHZ channel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90900" y="2556458"/>
            <a:ext cx="462319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Encoding operation of Alice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365287" y="2556458"/>
            <a:ext cx="422552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Bob’s decoding operation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9620" y="3719853"/>
            <a:ext cx="1964035" cy="34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Bit flip channel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740553" y="5226040"/>
            <a:ext cx="11850262" cy="40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4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Quantum circuit for dense coding using 3 qubit GHZ state with bit flip noise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740553" y="9244336"/>
            <a:ext cx="10936329" cy="40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4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Output fidelity when noise parameter is 0.1, 0.5, 0.9 respectively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355" y="298494"/>
            <a:ext cx="17255731" cy="1051613"/>
            <a:chOff x="0" y="0"/>
            <a:chExt cx="4544719" cy="276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719" cy="276968"/>
            </a:xfrm>
            <a:custGeom>
              <a:avLst/>
              <a:gdLst/>
              <a:ahLst/>
              <a:cxnLst/>
              <a:rect r="r" b="b" t="t" l="l"/>
              <a:pathLst>
                <a:path h="276968" w="4544719">
                  <a:moveTo>
                    <a:pt x="22882" y="0"/>
                  </a:moveTo>
                  <a:lnTo>
                    <a:pt x="4521838" y="0"/>
                  </a:lnTo>
                  <a:cubicBezTo>
                    <a:pt x="4534475" y="0"/>
                    <a:pt x="4544719" y="10244"/>
                    <a:pt x="4544719" y="22882"/>
                  </a:cubicBezTo>
                  <a:lnTo>
                    <a:pt x="4544719" y="254086"/>
                  </a:lnTo>
                  <a:cubicBezTo>
                    <a:pt x="4544719" y="266724"/>
                    <a:pt x="4534475" y="276968"/>
                    <a:pt x="4521838" y="276968"/>
                  </a:cubicBezTo>
                  <a:lnTo>
                    <a:pt x="22882" y="276968"/>
                  </a:lnTo>
                  <a:cubicBezTo>
                    <a:pt x="16813" y="276968"/>
                    <a:pt x="10993" y="274557"/>
                    <a:pt x="6702" y="270266"/>
                  </a:cubicBezTo>
                  <a:cubicBezTo>
                    <a:pt x="2411" y="265975"/>
                    <a:pt x="0" y="260155"/>
                    <a:pt x="0" y="254086"/>
                  </a:cubicBezTo>
                  <a:lnTo>
                    <a:pt x="0" y="22882"/>
                  </a:lnTo>
                  <a:cubicBezTo>
                    <a:pt x="0" y="10244"/>
                    <a:pt x="10244" y="0"/>
                    <a:pt x="2288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44719" cy="324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90581" y="387867"/>
            <a:ext cx="15764371" cy="78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9"/>
              </a:lnSpc>
              <a:spcBef>
                <a:spcPct val="0"/>
              </a:spcBef>
            </a:pP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</a:t>
            </a: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ntum dense coding protocols in noisy environment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89267" y="1639471"/>
            <a:ext cx="16143565" cy="593137"/>
            <a:chOff x="0" y="0"/>
            <a:chExt cx="4251803" cy="156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51803" cy="156217"/>
            </a:xfrm>
            <a:custGeom>
              <a:avLst/>
              <a:gdLst/>
              <a:ahLst/>
              <a:cxnLst/>
              <a:rect r="r" b="b" t="t" l="l"/>
              <a:pathLst>
                <a:path h="156217" w="4251803">
                  <a:moveTo>
                    <a:pt x="0" y="0"/>
                  </a:moveTo>
                  <a:lnTo>
                    <a:pt x="4251803" y="0"/>
                  </a:lnTo>
                  <a:lnTo>
                    <a:pt x="4251803" y="156217"/>
                  </a:lnTo>
                  <a:lnTo>
                    <a:pt x="0" y="156217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251803" cy="203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8355" y="2421533"/>
            <a:ext cx="4404889" cy="922401"/>
            <a:chOff x="0" y="0"/>
            <a:chExt cx="1160135" cy="2429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0135" cy="242937"/>
            </a:xfrm>
            <a:custGeom>
              <a:avLst/>
              <a:gdLst/>
              <a:ahLst/>
              <a:cxnLst/>
              <a:rect r="r" b="b" t="t" l="l"/>
              <a:pathLst>
                <a:path h="242937" w="1160135">
                  <a:moveTo>
                    <a:pt x="89636" y="0"/>
                  </a:moveTo>
                  <a:lnTo>
                    <a:pt x="1070499" y="0"/>
                  </a:lnTo>
                  <a:cubicBezTo>
                    <a:pt x="1120004" y="0"/>
                    <a:pt x="1160135" y="40132"/>
                    <a:pt x="1160135" y="89636"/>
                  </a:cubicBezTo>
                  <a:lnTo>
                    <a:pt x="1160135" y="153301"/>
                  </a:lnTo>
                  <a:cubicBezTo>
                    <a:pt x="1160135" y="202805"/>
                    <a:pt x="1120004" y="242937"/>
                    <a:pt x="1070499" y="242937"/>
                  </a:cubicBezTo>
                  <a:lnTo>
                    <a:pt x="89636" y="242937"/>
                  </a:lnTo>
                  <a:cubicBezTo>
                    <a:pt x="40132" y="242937"/>
                    <a:pt x="0" y="202805"/>
                    <a:pt x="0" y="153301"/>
                  </a:cubicBezTo>
                  <a:lnTo>
                    <a:pt x="0" y="89636"/>
                  </a:lnTo>
                  <a:cubicBezTo>
                    <a:pt x="0" y="40132"/>
                    <a:pt x="40132" y="0"/>
                    <a:pt x="8963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160135" cy="290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95070" y="2429011"/>
            <a:ext cx="5097860" cy="708283"/>
            <a:chOff x="0" y="0"/>
            <a:chExt cx="1342646" cy="1865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2646" cy="186544"/>
            </a:xfrm>
            <a:custGeom>
              <a:avLst/>
              <a:gdLst/>
              <a:ahLst/>
              <a:cxnLst/>
              <a:rect r="r" b="b" t="t" l="l"/>
              <a:pathLst>
                <a:path h="186544" w="1342646">
                  <a:moveTo>
                    <a:pt x="77452" y="0"/>
                  </a:moveTo>
                  <a:lnTo>
                    <a:pt x="1265195" y="0"/>
                  </a:lnTo>
                  <a:cubicBezTo>
                    <a:pt x="1285736" y="0"/>
                    <a:pt x="1305436" y="8160"/>
                    <a:pt x="1319961" y="22685"/>
                  </a:cubicBezTo>
                  <a:cubicBezTo>
                    <a:pt x="1334486" y="37210"/>
                    <a:pt x="1342646" y="56910"/>
                    <a:pt x="1342646" y="77452"/>
                  </a:cubicBezTo>
                  <a:lnTo>
                    <a:pt x="1342646" y="109092"/>
                  </a:lnTo>
                  <a:cubicBezTo>
                    <a:pt x="1342646" y="151867"/>
                    <a:pt x="1307970" y="186544"/>
                    <a:pt x="1265195" y="186544"/>
                  </a:cubicBezTo>
                  <a:lnTo>
                    <a:pt x="77452" y="186544"/>
                  </a:lnTo>
                  <a:cubicBezTo>
                    <a:pt x="34676" y="186544"/>
                    <a:pt x="0" y="151867"/>
                    <a:pt x="0" y="109092"/>
                  </a:cubicBezTo>
                  <a:lnTo>
                    <a:pt x="0" y="77452"/>
                  </a:lnTo>
                  <a:cubicBezTo>
                    <a:pt x="0" y="34676"/>
                    <a:pt x="34676" y="0"/>
                    <a:pt x="77452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42646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70012" y="2429011"/>
            <a:ext cx="4745279" cy="708283"/>
            <a:chOff x="0" y="0"/>
            <a:chExt cx="1249785" cy="1865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9785" cy="186544"/>
            </a:xfrm>
            <a:custGeom>
              <a:avLst/>
              <a:gdLst/>
              <a:ahLst/>
              <a:cxnLst/>
              <a:rect r="r" b="b" t="t" l="l"/>
              <a:pathLst>
                <a:path h="186544" w="1249785">
                  <a:moveTo>
                    <a:pt x="83206" y="0"/>
                  </a:moveTo>
                  <a:lnTo>
                    <a:pt x="1166579" y="0"/>
                  </a:lnTo>
                  <a:cubicBezTo>
                    <a:pt x="1188647" y="0"/>
                    <a:pt x="1209810" y="8766"/>
                    <a:pt x="1225415" y="24371"/>
                  </a:cubicBezTo>
                  <a:cubicBezTo>
                    <a:pt x="1241019" y="39975"/>
                    <a:pt x="1249785" y="61139"/>
                    <a:pt x="1249785" y="83206"/>
                  </a:cubicBezTo>
                  <a:lnTo>
                    <a:pt x="1249785" y="103337"/>
                  </a:lnTo>
                  <a:cubicBezTo>
                    <a:pt x="1249785" y="149291"/>
                    <a:pt x="1212533" y="186544"/>
                    <a:pt x="1166579" y="186544"/>
                  </a:cubicBezTo>
                  <a:lnTo>
                    <a:pt x="83206" y="186544"/>
                  </a:lnTo>
                  <a:cubicBezTo>
                    <a:pt x="37253" y="186544"/>
                    <a:pt x="0" y="149291"/>
                    <a:pt x="0" y="103337"/>
                  </a:cubicBezTo>
                  <a:lnTo>
                    <a:pt x="0" y="83206"/>
                  </a:lnTo>
                  <a:cubicBezTo>
                    <a:pt x="0" y="37253"/>
                    <a:pt x="37253" y="0"/>
                    <a:pt x="8320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49785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217988" y="2802203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1692930" y="2794724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408093" y="4117024"/>
            <a:ext cx="3296588" cy="511970"/>
          </a:xfrm>
          <a:custGeom>
            <a:avLst/>
            <a:gdLst/>
            <a:ahLst/>
            <a:cxnLst/>
            <a:rect r="r" b="b" t="t" l="l"/>
            <a:pathLst>
              <a:path h="511970" w="3296588">
                <a:moveTo>
                  <a:pt x="0" y="0"/>
                </a:moveTo>
                <a:lnTo>
                  <a:pt x="3296588" y="0"/>
                </a:lnTo>
                <a:lnTo>
                  <a:pt x="3296588" y="511970"/>
                </a:lnTo>
                <a:lnTo>
                  <a:pt x="0" y="511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46757" y="4628994"/>
            <a:ext cx="1733594" cy="2283777"/>
          </a:xfrm>
          <a:custGeom>
            <a:avLst/>
            <a:gdLst/>
            <a:ahLst/>
            <a:cxnLst/>
            <a:rect r="r" b="b" t="t" l="l"/>
            <a:pathLst>
              <a:path h="2283777" w="1733594">
                <a:moveTo>
                  <a:pt x="0" y="0"/>
                </a:moveTo>
                <a:lnTo>
                  <a:pt x="1733594" y="0"/>
                </a:lnTo>
                <a:lnTo>
                  <a:pt x="1733594" y="2283777"/>
                </a:lnTo>
                <a:lnTo>
                  <a:pt x="0" y="22837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13348" y="3705884"/>
            <a:ext cx="3686077" cy="3206887"/>
          </a:xfrm>
          <a:custGeom>
            <a:avLst/>
            <a:gdLst/>
            <a:ahLst/>
            <a:cxnLst/>
            <a:rect r="r" b="b" t="t" l="l"/>
            <a:pathLst>
              <a:path h="3206887" w="3686077">
                <a:moveTo>
                  <a:pt x="0" y="0"/>
                </a:moveTo>
                <a:lnTo>
                  <a:pt x="3686077" y="0"/>
                </a:lnTo>
                <a:lnTo>
                  <a:pt x="3686077" y="3206887"/>
                </a:lnTo>
                <a:lnTo>
                  <a:pt x="0" y="32068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79314" y="8076880"/>
            <a:ext cx="2754145" cy="830294"/>
          </a:xfrm>
          <a:custGeom>
            <a:avLst/>
            <a:gdLst/>
            <a:ahLst/>
            <a:cxnLst/>
            <a:rect r="r" b="b" t="t" l="l"/>
            <a:pathLst>
              <a:path h="830294" w="2754145">
                <a:moveTo>
                  <a:pt x="0" y="0"/>
                </a:moveTo>
                <a:lnTo>
                  <a:pt x="2754145" y="0"/>
                </a:lnTo>
                <a:lnTo>
                  <a:pt x="2754145" y="830294"/>
                </a:lnTo>
                <a:lnTo>
                  <a:pt x="0" y="8302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84084" y="7305789"/>
            <a:ext cx="1911941" cy="409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8"/>
              </a:lnSpc>
            </a:pPr>
            <a:r>
              <a:rPr lang="en-US" sz="237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State fidelity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609981" y="7169946"/>
            <a:ext cx="2668911" cy="2321953"/>
          </a:xfrm>
          <a:custGeom>
            <a:avLst/>
            <a:gdLst/>
            <a:ahLst/>
            <a:cxnLst/>
            <a:rect r="r" b="b" t="t" l="l"/>
            <a:pathLst>
              <a:path h="2321953" w="2668911">
                <a:moveTo>
                  <a:pt x="0" y="0"/>
                </a:moveTo>
                <a:lnTo>
                  <a:pt x="2668912" y="0"/>
                </a:lnTo>
                <a:lnTo>
                  <a:pt x="2668912" y="2321953"/>
                </a:lnTo>
                <a:lnTo>
                  <a:pt x="0" y="23219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422758" y="5686225"/>
            <a:ext cx="4822604" cy="3597816"/>
          </a:xfrm>
          <a:custGeom>
            <a:avLst/>
            <a:gdLst/>
            <a:ahLst/>
            <a:cxnLst/>
            <a:rect r="r" b="b" t="t" l="l"/>
            <a:pathLst>
              <a:path h="3597816" w="4822604">
                <a:moveTo>
                  <a:pt x="0" y="0"/>
                </a:moveTo>
                <a:lnTo>
                  <a:pt x="4822604" y="0"/>
                </a:lnTo>
                <a:lnTo>
                  <a:pt x="4822604" y="3597816"/>
                </a:lnTo>
                <a:lnTo>
                  <a:pt x="0" y="35978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921796" y="3413520"/>
            <a:ext cx="8086340" cy="1789103"/>
          </a:xfrm>
          <a:custGeom>
            <a:avLst/>
            <a:gdLst/>
            <a:ahLst/>
            <a:cxnLst/>
            <a:rect r="r" b="b" t="t" l="l"/>
            <a:pathLst>
              <a:path h="1789103" w="8086340">
                <a:moveTo>
                  <a:pt x="0" y="0"/>
                </a:moveTo>
                <a:lnTo>
                  <a:pt x="8086339" y="0"/>
                </a:lnTo>
                <a:lnTo>
                  <a:pt x="8086339" y="1789102"/>
                </a:lnTo>
                <a:lnTo>
                  <a:pt x="0" y="17891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899425" y="5770882"/>
            <a:ext cx="4745371" cy="3540197"/>
          </a:xfrm>
          <a:custGeom>
            <a:avLst/>
            <a:gdLst/>
            <a:ahLst/>
            <a:cxnLst/>
            <a:rect r="r" b="b" t="t" l="l"/>
            <a:pathLst>
              <a:path h="3540197" w="4745371">
                <a:moveTo>
                  <a:pt x="0" y="0"/>
                </a:moveTo>
                <a:lnTo>
                  <a:pt x="4745371" y="0"/>
                </a:lnTo>
                <a:lnTo>
                  <a:pt x="4745371" y="3540198"/>
                </a:lnTo>
                <a:lnTo>
                  <a:pt x="0" y="354019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653309" y="5686225"/>
            <a:ext cx="4858848" cy="3624855"/>
          </a:xfrm>
          <a:custGeom>
            <a:avLst/>
            <a:gdLst/>
            <a:ahLst/>
            <a:cxnLst/>
            <a:rect r="r" b="b" t="t" l="l"/>
            <a:pathLst>
              <a:path h="3624855" w="4858848">
                <a:moveTo>
                  <a:pt x="0" y="0"/>
                </a:moveTo>
                <a:lnTo>
                  <a:pt x="4858848" y="0"/>
                </a:lnTo>
                <a:lnTo>
                  <a:pt x="4858848" y="3624855"/>
                </a:lnTo>
                <a:lnTo>
                  <a:pt x="0" y="362485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6595070" y="9940291"/>
            <a:ext cx="509786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9267" y="1563271"/>
            <a:ext cx="16301548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QDC over bit flip channel- QDC Protocol using 4 qubit cluster state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0243" y="2470733"/>
            <a:ext cx="403074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Preparation of 4 qubit cluster channel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90900" y="2556458"/>
            <a:ext cx="462319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Encoding operation of Alice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365287" y="2556458"/>
            <a:ext cx="422552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Bob’s decoding operation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9620" y="3719853"/>
            <a:ext cx="1964035" cy="34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Bit flip channel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740553" y="5226040"/>
            <a:ext cx="10936329" cy="40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4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Quantum circuit for dense coding using 4 qubit cluster with bit flip noise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740553" y="9244336"/>
            <a:ext cx="10936329" cy="40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4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Output fidelity when noise parameter is 0.1, 0.5, 0.9 respectively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355" y="298494"/>
            <a:ext cx="17255731" cy="1051613"/>
            <a:chOff x="0" y="0"/>
            <a:chExt cx="4544719" cy="276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719" cy="276968"/>
            </a:xfrm>
            <a:custGeom>
              <a:avLst/>
              <a:gdLst/>
              <a:ahLst/>
              <a:cxnLst/>
              <a:rect r="r" b="b" t="t" l="l"/>
              <a:pathLst>
                <a:path h="276968" w="4544719">
                  <a:moveTo>
                    <a:pt x="22882" y="0"/>
                  </a:moveTo>
                  <a:lnTo>
                    <a:pt x="4521838" y="0"/>
                  </a:lnTo>
                  <a:cubicBezTo>
                    <a:pt x="4534475" y="0"/>
                    <a:pt x="4544719" y="10244"/>
                    <a:pt x="4544719" y="22882"/>
                  </a:cubicBezTo>
                  <a:lnTo>
                    <a:pt x="4544719" y="254086"/>
                  </a:lnTo>
                  <a:cubicBezTo>
                    <a:pt x="4544719" y="266724"/>
                    <a:pt x="4534475" y="276968"/>
                    <a:pt x="4521838" y="276968"/>
                  </a:cubicBezTo>
                  <a:lnTo>
                    <a:pt x="22882" y="276968"/>
                  </a:lnTo>
                  <a:cubicBezTo>
                    <a:pt x="16813" y="276968"/>
                    <a:pt x="10993" y="274557"/>
                    <a:pt x="6702" y="270266"/>
                  </a:cubicBezTo>
                  <a:cubicBezTo>
                    <a:pt x="2411" y="265975"/>
                    <a:pt x="0" y="260155"/>
                    <a:pt x="0" y="254086"/>
                  </a:cubicBezTo>
                  <a:lnTo>
                    <a:pt x="0" y="22882"/>
                  </a:lnTo>
                  <a:cubicBezTo>
                    <a:pt x="0" y="10244"/>
                    <a:pt x="10244" y="0"/>
                    <a:pt x="2288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44719" cy="324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90581" y="387867"/>
            <a:ext cx="15764371" cy="78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9"/>
              </a:lnSpc>
              <a:spcBef>
                <a:spcPct val="0"/>
              </a:spcBef>
            </a:pP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</a:t>
            </a: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ntum dense coding protocols in noisy environment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75173" y="1639471"/>
            <a:ext cx="15784127" cy="593137"/>
            <a:chOff x="0" y="0"/>
            <a:chExt cx="4157136" cy="156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57137" cy="156217"/>
            </a:xfrm>
            <a:custGeom>
              <a:avLst/>
              <a:gdLst/>
              <a:ahLst/>
              <a:cxnLst/>
              <a:rect r="r" b="b" t="t" l="l"/>
              <a:pathLst>
                <a:path h="156217" w="4157137">
                  <a:moveTo>
                    <a:pt x="0" y="0"/>
                  </a:moveTo>
                  <a:lnTo>
                    <a:pt x="4157137" y="0"/>
                  </a:lnTo>
                  <a:lnTo>
                    <a:pt x="4157137" y="156217"/>
                  </a:lnTo>
                  <a:lnTo>
                    <a:pt x="0" y="156217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157136" cy="203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8355" y="2421533"/>
            <a:ext cx="4404889" cy="922401"/>
            <a:chOff x="0" y="0"/>
            <a:chExt cx="1160135" cy="2429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0135" cy="242937"/>
            </a:xfrm>
            <a:custGeom>
              <a:avLst/>
              <a:gdLst/>
              <a:ahLst/>
              <a:cxnLst/>
              <a:rect r="r" b="b" t="t" l="l"/>
              <a:pathLst>
                <a:path h="242937" w="1160135">
                  <a:moveTo>
                    <a:pt x="89636" y="0"/>
                  </a:moveTo>
                  <a:lnTo>
                    <a:pt x="1070499" y="0"/>
                  </a:lnTo>
                  <a:cubicBezTo>
                    <a:pt x="1120004" y="0"/>
                    <a:pt x="1160135" y="40132"/>
                    <a:pt x="1160135" y="89636"/>
                  </a:cubicBezTo>
                  <a:lnTo>
                    <a:pt x="1160135" y="153301"/>
                  </a:lnTo>
                  <a:cubicBezTo>
                    <a:pt x="1160135" y="202805"/>
                    <a:pt x="1120004" y="242937"/>
                    <a:pt x="1070499" y="242937"/>
                  </a:cubicBezTo>
                  <a:lnTo>
                    <a:pt x="89636" y="242937"/>
                  </a:lnTo>
                  <a:cubicBezTo>
                    <a:pt x="40132" y="242937"/>
                    <a:pt x="0" y="202805"/>
                    <a:pt x="0" y="153301"/>
                  </a:cubicBezTo>
                  <a:lnTo>
                    <a:pt x="0" y="89636"/>
                  </a:lnTo>
                  <a:cubicBezTo>
                    <a:pt x="0" y="40132"/>
                    <a:pt x="40132" y="0"/>
                    <a:pt x="8963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160135" cy="290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95070" y="2429011"/>
            <a:ext cx="5097860" cy="708283"/>
            <a:chOff x="0" y="0"/>
            <a:chExt cx="1342646" cy="1865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2646" cy="186544"/>
            </a:xfrm>
            <a:custGeom>
              <a:avLst/>
              <a:gdLst/>
              <a:ahLst/>
              <a:cxnLst/>
              <a:rect r="r" b="b" t="t" l="l"/>
              <a:pathLst>
                <a:path h="186544" w="1342646">
                  <a:moveTo>
                    <a:pt x="77452" y="0"/>
                  </a:moveTo>
                  <a:lnTo>
                    <a:pt x="1265195" y="0"/>
                  </a:lnTo>
                  <a:cubicBezTo>
                    <a:pt x="1285736" y="0"/>
                    <a:pt x="1305436" y="8160"/>
                    <a:pt x="1319961" y="22685"/>
                  </a:cubicBezTo>
                  <a:cubicBezTo>
                    <a:pt x="1334486" y="37210"/>
                    <a:pt x="1342646" y="56910"/>
                    <a:pt x="1342646" y="77452"/>
                  </a:cubicBezTo>
                  <a:lnTo>
                    <a:pt x="1342646" y="109092"/>
                  </a:lnTo>
                  <a:cubicBezTo>
                    <a:pt x="1342646" y="151867"/>
                    <a:pt x="1307970" y="186544"/>
                    <a:pt x="1265195" y="186544"/>
                  </a:cubicBezTo>
                  <a:lnTo>
                    <a:pt x="77452" y="186544"/>
                  </a:lnTo>
                  <a:cubicBezTo>
                    <a:pt x="34676" y="186544"/>
                    <a:pt x="0" y="151867"/>
                    <a:pt x="0" y="109092"/>
                  </a:cubicBezTo>
                  <a:lnTo>
                    <a:pt x="0" y="77452"/>
                  </a:lnTo>
                  <a:cubicBezTo>
                    <a:pt x="0" y="34676"/>
                    <a:pt x="34676" y="0"/>
                    <a:pt x="77452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42646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70012" y="2429011"/>
            <a:ext cx="4745279" cy="708283"/>
            <a:chOff x="0" y="0"/>
            <a:chExt cx="1249785" cy="1865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9785" cy="186544"/>
            </a:xfrm>
            <a:custGeom>
              <a:avLst/>
              <a:gdLst/>
              <a:ahLst/>
              <a:cxnLst/>
              <a:rect r="r" b="b" t="t" l="l"/>
              <a:pathLst>
                <a:path h="186544" w="1249785">
                  <a:moveTo>
                    <a:pt x="83206" y="0"/>
                  </a:moveTo>
                  <a:lnTo>
                    <a:pt x="1166579" y="0"/>
                  </a:lnTo>
                  <a:cubicBezTo>
                    <a:pt x="1188647" y="0"/>
                    <a:pt x="1209810" y="8766"/>
                    <a:pt x="1225415" y="24371"/>
                  </a:cubicBezTo>
                  <a:cubicBezTo>
                    <a:pt x="1241019" y="39975"/>
                    <a:pt x="1249785" y="61139"/>
                    <a:pt x="1249785" y="83206"/>
                  </a:cubicBezTo>
                  <a:lnTo>
                    <a:pt x="1249785" y="103337"/>
                  </a:lnTo>
                  <a:cubicBezTo>
                    <a:pt x="1249785" y="149291"/>
                    <a:pt x="1212533" y="186544"/>
                    <a:pt x="1166579" y="186544"/>
                  </a:cubicBezTo>
                  <a:lnTo>
                    <a:pt x="83206" y="186544"/>
                  </a:lnTo>
                  <a:cubicBezTo>
                    <a:pt x="37253" y="186544"/>
                    <a:pt x="0" y="149291"/>
                    <a:pt x="0" y="103337"/>
                  </a:cubicBezTo>
                  <a:lnTo>
                    <a:pt x="0" y="83206"/>
                  </a:lnTo>
                  <a:cubicBezTo>
                    <a:pt x="0" y="37253"/>
                    <a:pt x="37253" y="0"/>
                    <a:pt x="8320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49785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217988" y="2802203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1692930" y="2794724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408093" y="4117024"/>
            <a:ext cx="3296588" cy="511970"/>
          </a:xfrm>
          <a:custGeom>
            <a:avLst/>
            <a:gdLst/>
            <a:ahLst/>
            <a:cxnLst/>
            <a:rect r="r" b="b" t="t" l="l"/>
            <a:pathLst>
              <a:path h="511970" w="3296588">
                <a:moveTo>
                  <a:pt x="0" y="0"/>
                </a:moveTo>
                <a:lnTo>
                  <a:pt x="3296588" y="0"/>
                </a:lnTo>
                <a:lnTo>
                  <a:pt x="3296588" y="511970"/>
                </a:lnTo>
                <a:lnTo>
                  <a:pt x="0" y="511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46757" y="4628994"/>
            <a:ext cx="1733594" cy="2283777"/>
          </a:xfrm>
          <a:custGeom>
            <a:avLst/>
            <a:gdLst/>
            <a:ahLst/>
            <a:cxnLst/>
            <a:rect r="r" b="b" t="t" l="l"/>
            <a:pathLst>
              <a:path h="2283777" w="1733594">
                <a:moveTo>
                  <a:pt x="0" y="0"/>
                </a:moveTo>
                <a:lnTo>
                  <a:pt x="1733594" y="0"/>
                </a:lnTo>
                <a:lnTo>
                  <a:pt x="1733594" y="2283777"/>
                </a:lnTo>
                <a:lnTo>
                  <a:pt x="0" y="22837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13348" y="3705884"/>
            <a:ext cx="3686077" cy="3206887"/>
          </a:xfrm>
          <a:custGeom>
            <a:avLst/>
            <a:gdLst/>
            <a:ahLst/>
            <a:cxnLst/>
            <a:rect r="r" b="b" t="t" l="l"/>
            <a:pathLst>
              <a:path h="3206887" w="3686077">
                <a:moveTo>
                  <a:pt x="0" y="0"/>
                </a:moveTo>
                <a:lnTo>
                  <a:pt x="3686077" y="0"/>
                </a:lnTo>
                <a:lnTo>
                  <a:pt x="3686077" y="3206887"/>
                </a:lnTo>
                <a:lnTo>
                  <a:pt x="0" y="32068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79314" y="8076880"/>
            <a:ext cx="2754145" cy="830294"/>
          </a:xfrm>
          <a:custGeom>
            <a:avLst/>
            <a:gdLst/>
            <a:ahLst/>
            <a:cxnLst/>
            <a:rect r="r" b="b" t="t" l="l"/>
            <a:pathLst>
              <a:path h="830294" w="2754145">
                <a:moveTo>
                  <a:pt x="0" y="0"/>
                </a:moveTo>
                <a:lnTo>
                  <a:pt x="2754145" y="0"/>
                </a:lnTo>
                <a:lnTo>
                  <a:pt x="2754145" y="830294"/>
                </a:lnTo>
                <a:lnTo>
                  <a:pt x="0" y="8302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84084" y="7305789"/>
            <a:ext cx="1911941" cy="409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8"/>
              </a:lnSpc>
            </a:pPr>
            <a:r>
              <a:rPr lang="en-US" sz="237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State fidelity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609981" y="7169946"/>
            <a:ext cx="2668911" cy="2321953"/>
          </a:xfrm>
          <a:custGeom>
            <a:avLst/>
            <a:gdLst/>
            <a:ahLst/>
            <a:cxnLst/>
            <a:rect r="r" b="b" t="t" l="l"/>
            <a:pathLst>
              <a:path h="2321953" w="2668911">
                <a:moveTo>
                  <a:pt x="0" y="0"/>
                </a:moveTo>
                <a:lnTo>
                  <a:pt x="2668912" y="0"/>
                </a:lnTo>
                <a:lnTo>
                  <a:pt x="2668912" y="2321953"/>
                </a:lnTo>
                <a:lnTo>
                  <a:pt x="0" y="23219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199690" y="5781475"/>
            <a:ext cx="4702783" cy="3500961"/>
          </a:xfrm>
          <a:custGeom>
            <a:avLst/>
            <a:gdLst/>
            <a:ahLst/>
            <a:cxnLst/>
            <a:rect r="r" b="b" t="t" l="l"/>
            <a:pathLst>
              <a:path h="3500961" w="4702783">
                <a:moveTo>
                  <a:pt x="0" y="0"/>
                </a:moveTo>
                <a:lnTo>
                  <a:pt x="4702783" y="0"/>
                </a:lnTo>
                <a:lnTo>
                  <a:pt x="4702783" y="3500961"/>
                </a:lnTo>
                <a:lnTo>
                  <a:pt x="0" y="35009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371207" y="3293596"/>
            <a:ext cx="8394882" cy="2335479"/>
          </a:xfrm>
          <a:custGeom>
            <a:avLst/>
            <a:gdLst/>
            <a:ahLst/>
            <a:cxnLst/>
            <a:rect r="r" b="b" t="t" l="l"/>
            <a:pathLst>
              <a:path h="2335479" w="8394882">
                <a:moveTo>
                  <a:pt x="0" y="0"/>
                </a:moveTo>
                <a:lnTo>
                  <a:pt x="8394882" y="0"/>
                </a:lnTo>
                <a:lnTo>
                  <a:pt x="8394882" y="2335479"/>
                </a:lnTo>
                <a:lnTo>
                  <a:pt x="0" y="23354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84218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777814" y="5810481"/>
            <a:ext cx="4446959" cy="3310514"/>
          </a:xfrm>
          <a:custGeom>
            <a:avLst/>
            <a:gdLst/>
            <a:ahLst/>
            <a:cxnLst/>
            <a:rect r="r" b="b" t="t" l="l"/>
            <a:pathLst>
              <a:path h="3310514" w="4446959">
                <a:moveTo>
                  <a:pt x="0" y="0"/>
                </a:moveTo>
                <a:lnTo>
                  <a:pt x="4446959" y="0"/>
                </a:lnTo>
                <a:lnTo>
                  <a:pt x="4446959" y="3310514"/>
                </a:lnTo>
                <a:lnTo>
                  <a:pt x="0" y="33105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355973" y="5770882"/>
            <a:ext cx="4714039" cy="3509340"/>
          </a:xfrm>
          <a:custGeom>
            <a:avLst/>
            <a:gdLst/>
            <a:ahLst/>
            <a:cxnLst/>
            <a:rect r="r" b="b" t="t" l="l"/>
            <a:pathLst>
              <a:path h="3509340" w="4714039">
                <a:moveTo>
                  <a:pt x="0" y="0"/>
                </a:moveTo>
                <a:lnTo>
                  <a:pt x="4714039" y="0"/>
                </a:lnTo>
                <a:lnTo>
                  <a:pt x="4714039" y="3509341"/>
                </a:lnTo>
                <a:lnTo>
                  <a:pt x="0" y="35093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4665367" y="3508770"/>
            <a:ext cx="858591" cy="1896854"/>
          </a:xfrm>
          <a:custGeom>
            <a:avLst/>
            <a:gdLst/>
            <a:ahLst/>
            <a:cxnLst/>
            <a:rect r="r" b="b" t="t" l="l"/>
            <a:pathLst>
              <a:path h="1896854" w="858591">
                <a:moveTo>
                  <a:pt x="0" y="0"/>
                </a:moveTo>
                <a:lnTo>
                  <a:pt x="858590" y="0"/>
                </a:lnTo>
                <a:lnTo>
                  <a:pt x="858590" y="1896854"/>
                </a:lnTo>
                <a:lnTo>
                  <a:pt x="0" y="18968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9549" t="-129303" r="-838922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6595070" y="9940291"/>
            <a:ext cx="509786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9267" y="1563271"/>
            <a:ext cx="16301548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QDC over bit flip channel- QDC Protocol using 5 qubit cluster state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30243" y="2470733"/>
            <a:ext cx="403074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Preparation of 5 qubit cluster channel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90900" y="2556458"/>
            <a:ext cx="462319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Encoding operation of Alice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365287" y="2556458"/>
            <a:ext cx="422552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Bob’s decoding operation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69620" y="3719853"/>
            <a:ext cx="1964035" cy="34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Bit flip channel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740553" y="5226040"/>
            <a:ext cx="10936329" cy="40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4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Quantum circuit for dense coding using 5 qubit cluster with bit flip noise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740553" y="9244336"/>
            <a:ext cx="10936329" cy="40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4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Output fidelity when noise parameter is 0.1, 0.5, 0.9 respectively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355" y="298494"/>
            <a:ext cx="17255731" cy="1051613"/>
            <a:chOff x="0" y="0"/>
            <a:chExt cx="4544719" cy="276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719" cy="276968"/>
            </a:xfrm>
            <a:custGeom>
              <a:avLst/>
              <a:gdLst/>
              <a:ahLst/>
              <a:cxnLst/>
              <a:rect r="r" b="b" t="t" l="l"/>
              <a:pathLst>
                <a:path h="276968" w="4544719">
                  <a:moveTo>
                    <a:pt x="22882" y="0"/>
                  </a:moveTo>
                  <a:lnTo>
                    <a:pt x="4521838" y="0"/>
                  </a:lnTo>
                  <a:cubicBezTo>
                    <a:pt x="4534475" y="0"/>
                    <a:pt x="4544719" y="10244"/>
                    <a:pt x="4544719" y="22882"/>
                  </a:cubicBezTo>
                  <a:lnTo>
                    <a:pt x="4544719" y="254086"/>
                  </a:lnTo>
                  <a:cubicBezTo>
                    <a:pt x="4544719" y="266724"/>
                    <a:pt x="4534475" y="276968"/>
                    <a:pt x="4521838" y="276968"/>
                  </a:cubicBezTo>
                  <a:lnTo>
                    <a:pt x="22882" y="276968"/>
                  </a:lnTo>
                  <a:cubicBezTo>
                    <a:pt x="16813" y="276968"/>
                    <a:pt x="10993" y="274557"/>
                    <a:pt x="6702" y="270266"/>
                  </a:cubicBezTo>
                  <a:cubicBezTo>
                    <a:pt x="2411" y="265975"/>
                    <a:pt x="0" y="260155"/>
                    <a:pt x="0" y="254086"/>
                  </a:cubicBezTo>
                  <a:lnTo>
                    <a:pt x="0" y="22882"/>
                  </a:lnTo>
                  <a:cubicBezTo>
                    <a:pt x="0" y="10244"/>
                    <a:pt x="10244" y="0"/>
                    <a:pt x="2288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44719" cy="324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90581" y="387867"/>
            <a:ext cx="15764371" cy="78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9"/>
              </a:lnSpc>
              <a:spcBef>
                <a:spcPct val="0"/>
              </a:spcBef>
            </a:pP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</a:t>
            </a: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ntum dense coding protocols in noisy environment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75173" y="1639471"/>
            <a:ext cx="15784127" cy="593137"/>
            <a:chOff x="0" y="0"/>
            <a:chExt cx="4157136" cy="156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57137" cy="156217"/>
            </a:xfrm>
            <a:custGeom>
              <a:avLst/>
              <a:gdLst/>
              <a:ahLst/>
              <a:cxnLst/>
              <a:rect r="r" b="b" t="t" l="l"/>
              <a:pathLst>
                <a:path h="156217" w="4157137">
                  <a:moveTo>
                    <a:pt x="0" y="0"/>
                  </a:moveTo>
                  <a:lnTo>
                    <a:pt x="4157137" y="0"/>
                  </a:lnTo>
                  <a:lnTo>
                    <a:pt x="4157137" y="156217"/>
                  </a:lnTo>
                  <a:lnTo>
                    <a:pt x="0" y="156217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157136" cy="203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8355" y="2421533"/>
            <a:ext cx="4404889" cy="922401"/>
            <a:chOff x="0" y="0"/>
            <a:chExt cx="1160135" cy="2429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0135" cy="242937"/>
            </a:xfrm>
            <a:custGeom>
              <a:avLst/>
              <a:gdLst/>
              <a:ahLst/>
              <a:cxnLst/>
              <a:rect r="r" b="b" t="t" l="l"/>
              <a:pathLst>
                <a:path h="242937" w="1160135">
                  <a:moveTo>
                    <a:pt x="89636" y="0"/>
                  </a:moveTo>
                  <a:lnTo>
                    <a:pt x="1070499" y="0"/>
                  </a:lnTo>
                  <a:cubicBezTo>
                    <a:pt x="1120004" y="0"/>
                    <a:pt x="1160135" y="40132"/>
                    <a:pt x="1160135" y="89636"/>
                  </a:cubicBezTo>
                  <a:lnTo>
                    <a:pt x="1160135" y="153301"/>
                  </a:lnTo>
                  <a:cubicBezTo>
                    <a:pt x="1160135" y="202805"/>
                    <a:pt x="1120004" y="242937"/>
                    <a:pt x="1070499" y="242937"/>
                  </a:cubicBezTo>
                  <a:lnTo>
                    <a:pt x="89636" y="242937"/>
                  </a:lnTo>
                  <a:cubicBezTo>
                    <a:pt x="40132" y="242937"/>
                    <a:pt x="0" y="202805"/>
                    <a:pt x="0" y="153301"/>
                  </a:cubicBezTo>
                  <a:lnTo>
                    <a:pt x="0" y="89636"/>
                  </a:lnTo>
                  <a:cubicBezTo>
                    <a:pt x="0" y="40132"/>
                    <a:pt x="40132" y="0"/>
                    <a:pt x="8963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160135" cy="290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95070" y="2429011"/>
            <a:ext cx="5097860" cy="708283"/>
            <a:chOff x="0" y="0"/>
            <a:chExt cx="1342646" cy="1865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2646" cy="186544"/>
            </a:xfrm>
            <a:custGeom>
              <a:avLst/>
              <a:gdLst/>
              <a:ahLst/>
              <a:cxnLst/>
              <a:rect r="r" b="b" t="t" l="l"/>
              <a:pathLst>
                <a:path h="186544" w="1342646">
                  <a:moveTo>
                    <a:pt x="77452" y="0"/>
                  </a:moveTo>
                  <a:lnTo>
                    <a:pt x="1265195" y="0"/>
                  </a:lnTo>
                  <a:cubicBezTo>
                    <a:pt x="1285736" y="0"/>
                    <a:pt x="1305436" y="8160"/>
                    <a:pt x="1319961" y="22685"/>
                  </a:cubicBezTo>
                  <a:cubicBezTo>
                    <a:pt x="1334486" y="37210"/>
                    <a:pt x="1342646" y="56910"/>
                    <a:pt x="1342646" y="77452"/>
                  </a:cubicBezTo>
                  <a:lnTo>
                    <a:pt x="1342646" y="109092"/>
                  </a:lnTo>
                  <a:cubicBezTo>
                    <a:pt x="1342646" y="151867"/>
                    <a:pt x="1307970" y="186544"/>
                    <a:pt x="1265195" y="186544"/>
                  </a:cubicBezTo>
                  <a:lnTo>
                    <a:pt x="77452" y="186544"/>
                  </a:lnTo>
                  <a:cubicBezTo>
                    <a:pt x="34676" y="186544"/>
                    <a:pt x="0" y="151867"/>
                    <a:pt x="0" y="109092"/>
                  </a:cubicBezTo>
                  <a:lnTo>
                    <a:pt x="0" y="77452"/>
                  </a:lnTo>
                  <a:cubicBezTo>
                    <a:pt x="0" y="34676"/>
                    <a:pt x="34676" y="0"/>
                    <a:pt x="77452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42646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70012" y="2429011"/>
            <a:ext cx="4745279" cy="708283"/>
            <a:chOff x="0" y="0"/>
            <a:chExt cx="1249785" cy="1865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9785" cy="186544"/>
            </a:xfrm>
            <a:custGeom>
              <a:avLst/>
              <a:gdLst/>
              <a:ahLst/>
              <a:cxnLst/>
              <a:rect r="r" b="b" t="t" l="l"/>
              <a:pathLst>
                <a:path h="186544" w="1249785">
                  <a:moveTo>
                    <a:pt x="83206" y="0"/>
                  </a:moveTo>
                  <a:lnTo>
                    <a:pt x="1166579" y="0"/>
                  </a:lnTo>
                  <a:cubicBezTo>
                    <a:pt x="1188647" y="0"/>
                    <a:pt x="1209810" y="8766"/>
                    <a:pt x="1225415" y="24371"/>
                  </a:cubicBezTo>
                  <a:cubicBezTo>
                    <a:pt x="1241019" y="39975"/>
                    <a:pt x="1249785" y="61139"/>
                    <a:pt x="1249785" y="83206"/>
                  </a:cubicBezTo>
                  <a:lnTo>
                    <a:pt x="1249785" y="103337"/>
                  </a:lnTo>
                  <a:cubicBezTo>
                    <a:pt x="1249785" y="149291"/>
                    <a:pt x="1212533" y="186544"/>
                    <a:pt x="1166579" y="186544"/>
                  </a:cubicBezTo>
                  <a:lnTo>
                    <a:pt x="83206" y="186544"/>
                  </a:lnTo>
                  <a:cubicBezTo>
                    <a:pt x="37253" y="186544"/>
                    <a:pt x="0" y="149291"/>
                    <a:pt x="0" y="103337"/>
                  </a:cubicBezTo>
                  <a:lnTo>
                    <a:pt x="0" y="83206"/>
                  </a:lnTo>
                  <a:cubicBezTo>
                    <a:pt x="0" y="37253"/>
                    <a:pt x="37253" y="0"/>
                    <a:pt x="8320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49785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217988" y="2802203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1692930" y="2794724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408093" y="4117024"/>
            <a:ext cx="3296588" cy="511970"/>
          </a:xfrm>
          <a:custGeom>
            <a:avLst/>
            <a:gdLst/>
            <a:ahLst/>
            <a:cxnLst/>
            <a:rect r="r" b="b" t="t" l="l"/>
            <a:pathLst>
              <a:path h="511970" w="3296588">
                <a:moveTo>
                  <a:pt x="0" y="0"/>
                </a:moveTo>
                <a:lnTo>
                  <a:pt x="3296588" y="0"/>
                </a:lnTo>
                <a:lnTo>
                  <a:pt x="3296588" y="511970"/>
                </a:lnTo>
                <a:lnTo>
                  <a:pt x="0" y="511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46757" y="4628994"/>
            <a:ext cx="1733594" cy="2283777"/>
          </a:xfrm>
          <a:custGeom>
            <a:avLst/>
            <a:gdLst/>
            <a:ahLst/>
            <a:cxnLst/>
            <a:rect r="r" b="b" t="t" l="l"/>
            <a:pathLst>
              <a:path h="2283777" w="1733594">
                <a:moveTo>
                  <a:pt x="0" y="0"/>
                </a:moveTo>
                <a:lnTo>
                  <a:pt x="1733594" y="0"/>
                </a:lnTo>
                <a:lnTo>
                  <a:pt x="1733594" y="2283777"/>
                </a:lnTo>
                <a:lnTo>
                  <a:pt x="0" y="22837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13348" y="3705884"/>
            <a:ext cx="3686077" cy="3206887"/>
          </a:xfrm>
          <a:custGeom>
            <a:avLst/>
            <a:gdLst/>
            <a:ahLst/>
            <a:cxnLst/>
            <a:rect r="r" b="b" t="t" l="l"/>
            <a:pathLst>
              <a:path h="3206887" w="3686077">
                <a:moveTo>
                  <a:pt x="0" y="0"/>
                </a:moveTo>
                <a:lnTo>
                  <a:pt x="3686077" y="0"/>
                </a:lnTo>
                <a:lnTo>
                  <a:pt x="3686077" y="3206887"/>
                </a:lnTo>
                <a:lnTo>
                  <a:pt x="0" y="32068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79314" y="8076880"/>
            <a:ext cx="2754145" cy="830294"/>
          </a:xfrm>
          <a:custGeom>
            <a:avLst/>
            <a:gdLst/>
            <a:ahLst/>
            <a:cxnLst/>
            <a:rect r="r" b="b" t="t" l="l"/>
            <a:pathLst>
              <a:path h="830294" w="2754145">
                <a:moveTo>
                  <a:pt x="0" y="0"/>
                </a:moveTo>
                <a:lnTo>
                  <a:pt x="2754145" y="0"/>
                </a:lnTo>
                <a:lnTo>
                  <a:pt x="2754145" y="830294"/>
                </a:lnTo>
                <a:lnTo>
                  <a:pt x="0" y="8302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84084" y="7305789"/>
            <a:ext cx="1911941" cy="409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8"/>
              </a:lnSpc>
            </a:pPr>
            <a:r>
              <a:rPr lang="en-US" sz="237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State fidelity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609981" y="7169946"/>
            <a:ext cx="2668911" cy="2321953"/>
          </a:xfrm>
          <a:custGeom>
            <a:avLst/>
            <a:gdLst/>
            <a:ahLst/>
            <a:cxnLst/>
            <a:rect r="r" b="b" t="t" l="l"/>
            <a:pathLst>
              <a:path h="2321953" w="2668911">
                <a:moveTo>
                  <a:pt x="0" y="0"/>
                </a:moveTo>
                <a:lnTo>
                  <a:pt x="2668912" y="0"/>
                </a:lnTo>
                <a:lnTo>
                  <a:pt x="2668912" y="2321953"/>
                </a:lnTo>
                <a:lnTo>
                  <a:pt x="0" y="23219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170562" y="5716271"/>
            <a:ext cx="4873524" cy="3635803"/>
          </a:xfrm>
          <a:custGeom>
            <a:avLst/>
            <a:gdLst/>
            <a:ahLst/>
            <a:cxnLst/>
            <a:rect r="r" b="b" t="t" l="l"/>
            <a:pathLst>
              <a:path h="3635803" w="4873524">
                <a:moveTo>
                  <a:pt x="0" y="0"/>
                </a:moveTo>
                <a:lnTo>
                  <a:pt x="4873523" y="0"/>
                </a:lnTo>
                <a:lnTo>
                  <a:pt x="4873523" y="3635803"/>
                </a:lnTo>
                <a:lnTo>
                  <a:pt x="0" y="36358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380608" y="3118202"/>
            <a:ext cx="6266979" cy="2328406"/>
          </a:xfrm>
          <a:custGeom>
            <a:avLst/>
            <a:gdLst/>
            <a:ahLst/>
            <a:cxnLst/>
            <a:rect r="r" b="b" t="t" l="l"/>
            <a:pathLst>
              <a:path h="2328406" w="6266979">
                <a:moveTo>
                  <a:pt x="0" y="0"/>
                </a:moveTo>
                <a:lnTo>
                  <a:pt x="6266979" y="0"/>
                </a:lnTo>
                <a:lnTo>
                  <a:pt x="6266979" y="2328405"/>
                </a:lnTo>
                <a:lnTo>
                  <a:pt x="0" y="23284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711886" y="5595663"/>
            <a:ext cx="4853465" cy="3620839"/>
          </a:xfrm>
          <a:custGeom>
            <a:avLst/>
            <a:gdLst/>
            <a:ahLst/>
            <a:cxnLst/>
            <a:rect r="r" b="b" t="t" l="l"/>
            <a:pathLst>
              <a:path h="3620839" w="4853465">
                <a:moveTo>
                  <a:pt x="0" y="0"/>
                </a:moveTo>
                <a:lnTo>
                  <a:pt x="4853465" y="0"/>
                </a:lnTo>
                <a:lnTo>
                  <a:pt x="4853465" y="3620839"/>
                </a:lnTo>
                <a:lnTo>
                  <a:pt x="0" y="36208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565351" y="5635597"/>
            <a:ext cx="4799936" cy="3580905"/>
          </a:xfrm>
          <a:custGeom>
            <a:avLst/>
            <a:gdLst/>
            <a:ahLst/>
            <a:cxnLst/>
            <a:rect r="r" b="b" t="t" l="l"/>
            <a:pathLst>
              <a:path h="3580905" w="4799936">
                <a:moveTo>
                  <a:pt x="0" y="0"/>
                </a:moveTo>
                <a:lnTo>
                  <a:pt x="4799936" y="0"/>
                </a:lnTo>
                <a:lnTo>
                  <a:pt x="4799936" y="3580905"/>
                </a:lnTo>
                <a:lnTo>
                  <a:pt x="0" y="358090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6595070" y="9940291"/>
            <a:ext cx="509786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9267" y="1563271"/>
            <a:ext cx="16301548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QDC over bit flip channel- QDC Protocol using 6 qubit cluster state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0243" y="2470733"/>
            <a:ext cx="403074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Preparation of 6 qubit cluster channel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90900" y="2556458"/>
            <a:ext cx="462319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Encoding operation of Alice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365287" y="2556458"/>
            <a:ext cx="422552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Bob’s decoding operation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9620" y="3719853"/>
            <a:ext cx="1964035" cy="34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Bit flip channel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740553" y="5226040"/>
            <a:ext cx="10936329" cy="40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4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Quantum circuit for dense coding using 6 qubit cluster with bit flip noise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740553" y="9244336"/>
            <a:ext cx="10936329" cy="40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41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Output fidelity when noise parameter is 0.1, 0.5, 0.9 respectively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355" y="298494"/>
            <a:ext cx="17255731" cy="1051613"/>
            <a:chOff x="0" y="0"/>
            <a:chExt cx="4544719" cy="276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719" cy="276968"/>
            </a:xfrm>
            <a:custGeom>
              <a:avLst/>
              <a:gdLst/>
              <a:ahLst/>
              <a:cxnLst/>
              <a:rect r="r" b="b" t="t" l="l"/>
              <a:pathLst>
                <a:path h="276968" w="4544719">
                  <a:moveTo>
                    <a:pt x="22882" y="0"/>
                  </a:moveTo>
                  <a:lnTo>
                    <a:pt x="4521838" y="0"/>
                  </a:lnTo>
                  <a:cubicBezTo>
                    <a:pt x="4534475" y="0"/>
                    <a:pt x="4544719" y="10244"/>
                    <a:pt x="4544719" y="22882"/>
                  </a:cubicBezTo>
                  <a:lnTo>
                    <a:pt x="4544719" y="254086"/>
                  </a:lnTo>
                  <a:cubicBezTo>
                    <a:pt x="4544719" y="266724"/>
                    <a:pt x="4534475" y="276968"/>
                    <a:pt x="4521838" y="276968"/>
                  </a:cubicBezTo>
                  <a:lnTo>
                    <a:pt x="22882" y="276968"/>
                  </a:lnTo>
                  <a:cubicBezTo>
                    <a:pt x="16813" y="276968"/>
                    <a:pt x="10993" y="274557"/>
                    <a:pt x="6702" y="270266"/>
                  </a:cubicBezTo>
                  <a:cubicBezTo>
                    <a:pt x="2411" y="265975"/>
                    <a:pt x="0" y="260155"/>
                    <a:pt x="0" y="254086"/>
                  </a:cubicBezTo>
                  <a:lnTo>
                    <a:pt x="0" y="22882"/>
                  </a:lnTo>
                  <a:cubicBezTo>
                    <a:pt x="0" y="10244"/>
                    <a:pt x="10244" y="0"/>
                    <a:pt x="2288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44719" cy="324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90581" y="387867"/>
            <a:ext cx="15764371" cy="78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9"/>
              </a:lnSpc>
              <a:spcBef>
                <a:spcPct val="0"/>
              </a:spcBef>
            </a:pP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</a:t>
            </a: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ntum dense coding protocols in noisy environment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595070" y="1639471"/>
            <a:ext cx="5855699" cy="593137"/>
            <a:chOff x="0" y="0"/>
            <a:chExt cx="1542242" cy="156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42242" cy="156217"/>
            </a:xfrm>
            <a:custGeom>
              <a:avLst/>
              <a:gdLst/>
              <a:ahLst/>
              <a:cxnLst/>
              <a:rect r="r" b="b" t="t" l="l"/>
              <a:pathLst>
                <a:path h="156217" w="1542242">
                  <a:moveTo>
                    <a:pt x="0" y="0"/>
                  </a:moveTo>
                  <a:lnTo>
                    <a:pt x="1542242" y="0"/>
                  </a:lnTo>
                  <a:lnTo>
                    <a:pt x="1542242" y="156217"/>
                  </a:lnTo>
                  <a:lnTo>
                    <a:pt x="0" y="156217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542242" cy="203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8355" y="2421533"/>
            <a:ext cx="4404889" cy="922401"/>
            <a:chOff x="0" y="0"/>
            <a:chExt cx="1160135" cy="2429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0135" cy="242937"/>
            </a:xfrm>
            <a:custGeom>
              <a:avLst/>
              <a:gdLst/>
              <a:ahLst/>
              <a:cxnLst/>
              <a:rect r="r" b="b" t="t" l="l"/>
              <a:pathLst>
                <a:path h="242937" w="1160135">
                  <a:moveTo>
                    <a:pt x="89636" y="0"/>
                  </a:moveTo>
                  <a:lnTo>
                    <a:pt x="1070499" y="0"/>
                  </a:lnTo>
                  <a:cubicBezTo>
                    <a:pt x="1120004" y="0"/>
                    <a:pt x="1160135" y="40132"/>
                    <a:pt x="1160135" y="89636"/>
                  </a:cubicBezTo>
                  <a:lnTo>
                    <a:pt x="1160135" y="153301"/>
                  </a:lnTo>
                  <a:cubicBezTo>
                    <a:pt x="1160135" y="202805"/>
                    <a:pt x="1120004" y="242937"/>
                    <a:pt x="1070499" y="242937"/>
                  </a:cubicBezTo>
                  <a:lnTo>
                    <a:pt x="89636" y="242937"/>
                  </a:lnTo>
                  <a:cubicBezTo>
                    <a:pt x="40132" y="242937"/>
                    <a:pt x="0" y="202805"/>
                    <a:pt x="0" y="153301"/>
                  </a:cubicBezTo>
                  <a:lnTo>
                    <a:pt x="0" y="89636"/>
                  </a:lnTo>
                  <a:cubicBezTo>
                    <a:pt x="0" y="40132"/>
                    <a:pt x="40132" y="0"/>
                    <a:pt x="8963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160135" cy="290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95070" y="2429011"/>
            <a:ext cx="5097860" cy="708283"/>
            <a:chOff x="0" y="0"/>
            <a:chExt cx="1342646" cy="1865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2646" cy="186544"/>
            </a:xfrm>
            <a:custGeom>
              <a:avLst/>
              <a:gdLst/>
              <a:ahLst/>
              <a:cxnLst/>
              <a:rect r="r" b="b" t="t" l="l"/>
              <a:pathLst>
                <a:path h="186544" w="1342646">
                  <a:moveTo>
                    <a:pt x="77452" y="0"/>
                  </a:moveTo>
                  <a:lnTo>
                    <a:pt x="1265195" y="0"/>
                  </a:lnTo>
                  <a:cubicBezTo>
                    <a:pt x="1285736" y="0"/>
                    <a:pt x="1305436" y="8160"/>
                    <a:pt x="1319961" y="22685"/>
                  </a:cubicBezTo>
                  <a:cubicBezTo>
                    <a:pt x="1334486" y="37210"/>
                    <a:pt x="1342646" y="56910"/>
                    <a:pt x="1342646" y="77452"/>
                  </a:cubicBezTo>
                  <a:lnTo>
                    <a:pt x="1342646" y="109092"/>
                  </a:lnTo>
                  <a:cubicBezTo>
                    <a:pt x="1342646" y="151867"/>
                    <a:pt x="1307970" y="186544"/>
                    <a:pt x="1265195" y="186544"/>
                  </a:cubicBezTo>
                  <a:lnTo>
                    <a:pt x="77452" y="186544"/>
                  </a:lnTo>
                  <a:cubicBezTo>
                    <a:pt x="34676" y="186544"/>
                    <a:pt x="0" y="151867"/>
                    <a:pt x="0" y="109092"/>
                  </a:cubicBezTo>
                  <a:lnTo>
                    <a:pt x="0" y="77452"/>
                  </a:lnTo>
                  <a:cubicBezTo>
                    <a:pt x="0" y="34676"/>
                    <a:pt x="34676" y="0"/>
                    <a:pt x="77452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42646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70012" y="2429011"/>
            <a:ext cx="4745279" cy="708283"/>
            <a:chOff x="0" y="0"/>
            <a:chExt cx="1249785" cy="1865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9785" cy="186544"/>
            </a:xfrm>
            <a:custGeom>
              <a:avLst/>
              <a:gdLst/>
              <a:ahLst/>
              <a:cxnLst/>
              <a:rect r="r" b="b" t="t" l="l"/>
              <a:pathLst>
                <a:path h="186544" w="1249785">
                  <a:moveTo>
                    <a:pt x="83206" y="0"/>
                  </a:moveTo>
                  <a:lnTo>
                    <a:pt x="1166579" y="0"/>
                  </a:lnTo>
                  <a:cubicBezTo>
                    <a:pt x="1188647" y="0"/>
                    <a:pt x="1209810" y="8766"/>
                    <a:pt x="1225415" y="24371"/>
                  </a:cubicBezTo>
                  <a:cubicBezTo>
                    <a:pt x="1241019" y="39975"/>
                    <a:pt x="1249785" y="61139"/>
                    <a:pt x="1249785" y="83206"/>
                  </a:cubicBezTo>
                  <a:lnTo>
                    <a:pt x="1249785" y="103337"/>
                  </a:lnTo>
                  <a:cubicBezTo>
                    <a:pt x="1249785" y="149291"/>
                    <a:pt x="1212533" y="186544"/>
                    <a:pt x="1166579" y="186544"/>
                  </a:cubicBezTo>
                  <a:lnTo>
                    <a:pt x="83206" y="186544"/>
                  </a:lnTo>
                  <a:cubicBezTo>
                    <a:pt x="37253" y="186544"/>
                    <a:pt x="0" y="149291"/>
                    <a:pt x="0" y="103337"/>
                  </a:cubicBezTo>
                  <a:lnTo>
                    <a:pt x="0" y="83206"/>
                  </a:lnTo>
                  <a:cubicBezTo>
                    <a:pt x="0" y="37253"/>
                    <a:pt x="37253" y="0"/>
                    <a:pt x="8320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49785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217988" y="2802203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1692930" y="2794724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6378161" y="4744603"/>
            <a:ext cx="5886600" cy="4515748"/>
          </a:xfrm>
          <a:custGeom>
            <a:avLst/>
            <a:gdLst/>
            <a:ahLst/>
            <a:cxnLst/>
            <a:rect r="r" b="b" t="t" l="l"/>
            <a:pathLst>
              <a:path h="4515748" w="5886600">
                <a:moveTo>
                  <a:pt x="0" y="0"/>
                </a:moveTo>
                <a:lnTo>
                  <a:pt x="5886600" y="0"/>
                </a:lnTo>
                <a:lnTo>
                  <a:pt x="5886600" y="4515747"/>
                </a:lnTo>
                <a:lnTo>
                  <a:pt x="0" y="45157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43915" y="4744603"/>
            <a:ext cx="6134559" cy="4492429"/>
          </a:xfrm>
          <a:custGeom>
            <a:avLst/>
            <a:gdLst/>
            <a:ahLst/>
            <a:cxnLst/>
            <a:rect r="r" b="b" t="t" l="l"/>
            <a:pathLst>
              <a:path h="4492429" w="6134559">
                <a:moveTo>
                  <a:pt x="0" y="0"/>
                </a:moveTo>
                <a:lnTo>
                  <a:pt x="6134559" y="0"/>
                </a:lnTo>
                <a:lnTo>
                  <a:pt x="6134559" y="4492429"/>
                </a:lnTo>
                <a:lnTo>
                  <a:pt x="0" y="44924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16" t="0" r="-1516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122446" y="4744603"/>
            <a:ext cx="6165554" cy="4525178"/>
          </a:xfrm>
          <a:custGeom>
            <a:avLst/>
            <a:gdLst/>
            <a:ahLst/>
            <a:cxnLst/>
            <a:rect r="r" b="b" t="t" l="l"/>
            <a:pathLst>
              <a:path h="4525178" w="6165554">
                <a:moveTo>
                  <a:pt x="0" y="0"/>
                </a:moveTo>
                <a:lnTo>
                  <a:pt x="6165554" y="0"/>
                </a:lnTo>
                <a:lnTo>
                  <a:pt x="6165554" y="4525177"/>
                </a:lnTo>
                <a:lnTo>
                  <a:pt x="0" y="4525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595070" y="9940291"/>
            <a:ext cx="509786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9267" y="1563271"/>
            <a:ext cx="16301548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QDC over noisy channel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0243" y="2470733"/>
            <a:ext cx="403074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Preparation of different entangled channel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90900" y="2556458"/>
            <a:ext cx="462319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Encoding operation of Alice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365287" y="2556458"/>
            <a:ext cx="422552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Bob’s decoding operation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52823" y="3648734"/>
            <a:ext cx="16106477" cy="90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7"/>
              </a:lnSpc>
            </a:pP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same protocols are again implemented for </a:t>
            </a:r>
            <a:r>
              <a:rPr lang="en-US" sz="26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flip noise model</a:t>
            </a: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sz="26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Bit-phase flip noise model</a:t>
            </a:r>
          </a:p>
          <a:p>
            <a:pPr algn="ctr">
              <a:lnSpc>
                <a:spcPts val="3647"/>
              </a:lnSpc>
            </a:pPr>
            <a:r>
              <a:rPr lang="en-US" sz="26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the output fidelity is observed. (ref. Sec. 4.2 and 4.3 of report)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0" y="9507905"/>
            <a:ext cx="18044085" cy="30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6"/>
              </a:lnSpc>
            </a:pPr>
            <a:r>
              <a:rPr lang="en-US" sz="18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Fidelity vs noise parameter graph for different entangled channel dense coding protocols for respectively bit flip, phase flip and bit-phase flip noise models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355" y="298494"/>
            <a:ext cx="17255731" cy="1051613"/>
            <a:chOff x="0" y="0"/>
            <a:chExt cx="4544719" cy="276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719" cy="276968"/>
            </a:xfrm>
            <a:custGeom>
              <a:avLst/>
              <a:gdLst/>
              <a:ahLst/>
              <a:cxnLst/>
              <a:rect r="r" b="b" t="t" l="l"/>
              <a:pathLst>
                <a:path h="276968" w="4544719">
                  <a:moveTo>
                    <a:pt x="22882" y="0"/>
                  </a:moveTo>
                  <a:lnTo>
                    <a:pt x="4521838" y="0"/>
                  </a:lnTo>
                  <a:cubicBezTo>
                    <a:pt x="4534475" y="0"/>
                    <a:pt x="4544719" y="10244"/>
                    <a:pt x="4544719" y="22882"/>
                  </a:cubicBezTo>
                  <a:lnTo>
                    <a:pt x="4544719" y="254086"/>
                  </a:lnTo>
                  <a:cubicBezTo>
                    <a:pt x="4544719" y="266724"/>
                    <a:pt x="4534475" y="276968"/>
                    <a:pt x="4521838" y="276968"/>
                  </a:cubicBezTo>
                  <a:lnTo>
                    <a:pt x="22882" y="276968"/>
                  </a:lnTo>
                  <a:cubicBezTo>
                    <a:pt x="16813" y="276968"/>
                    <a:pt x="10993" y="274557"/>
                    <a:pt x="6702" y="270266"/>
                  </a:cubicBezTo>
                  <a:cubicBezTo>
                    <a:pt x="2411" y="265975"/>
                    <a:pt x="0" y="260155"/>
                    <a:pt x="0" y="254086"/>
                  </a:cubicBezTo>
                  <a:lnTo>
                    <a:pt x="0" y="22882"/>
                  </a:lnTo>
                  <a:cubicBezTo>
                    <a:pt x="0" y="10244"/>
                    <a:pt x="10244" y="0"/>
                    <a:pt x="2288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44719" cy="324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90581" y="387867"/>
            <a:ext cx="15764371" cy="78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9"/>
              </a:lnSpc>
              <a:spcBef>
                <a:spcPct val="0"/>
              </a:spcBef>
            </a:pP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</a:t>
            </a: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ntum dense coding protocols in noisy environment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595070" y="1639471"/>
            <a:ext cx="5855699" cy="593137"/>
            <a:chOff x="0" y="0"/>
            <a:chExt cx="1542242" cy="156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42242" cy="156217"/>
            </a:xfrm>
            <a:custGeom>
              <a:avLst/>
              <a:gdLst/>
              <a:ahLst/>
              <a:cxnLst/>
              <a:rect r="r" b="b" t="t" l="l"/>
              <a:pathLst>
                <a:path h="156217" w="1542242">
                  <a:moveTo>
                    <a:pt x="0" y="0"/>
                  </a:moveTo>
                  <a:lnTo>
                    <a:pt x="1542242" y="0"/>
                  </a:lnTo>
                  <a:lnTo>
                    <a:pt x="1542242" y="156217"/>
                  </a:lnTo>
                  <a:lnTo>
                    <a:pt x="0" y="156217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542242" cy="203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8355" y="2421533"/>
            <a:ext cx="4404889" cy="922401"/>
            <a:chOff x="0" y="0"/>
            <a:chExt cx="1160135" cy="2429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0135" cy="242937"/>
            </a:xfrm>
            <a:custGeom>
              <a:avLst/>
              <a:gdLst/>
              <a:ahLst/>
              <a:cxnLst/>
              <a:rect r="r" b="b" t="t" l="l"/>
              <a:pathLst>
                <a:path h="242937" w="1160135">
                  <a:moveTo>
                    <a:pt x="89636" y="0"/>
                  </a:moveTo>
                  <a:lnTo>
                    <a:pt x="1070499" y="0"/>
                  </a:lnTo>
                  <a:cubicBezTo>
                    <a:pt x="1120004" y="0"/>
                    <a:pt x="1160135" y="40132"/>
                    <a:pt x="1160135" y="89636"/>
                  </a:cubicBezTo>
                  <a:lnTo>
                    <a:pt x="1160135" y="153301"/>
                  </a:lnTo>
                  <a:cubicBezTo>
                    <a:pt x="1160135" y="202805"/>
                    <a:pt x="1120004" y="242937"/>
                    <a:pt x="1070499" y="242937"/>
                  </a:cubicBezTo>
                  <a:lnTo>
                    <a:pt x="89636" y="242937"/>
                  </a:lnTo>
                  <a:cubicBezTo>
                    <a:pt x="40132" y="242937"/>
                    <a:pt x="0" y="202805"/>
                    <a:pt x="0" y="153301"/>
                  </a:cubicBezTo>
                  <a:lnTo>
                    <a:pt x="0" y="89636"/>
                  </a:lnTo>
                  <a:cubicBezTo>
                    <a:pt x="0" y="40132"/>
                    <a:pt x="40132" y="0"/>
                    <a:pt x="8963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160135" cy="290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95070" y="2429011"/>
            <a:ext cx="5097860" cy="708283"/>
            <a:chOff x="0" y="0"/>
            <a:chExt cx="1342646" cy="1865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2646" cy="186544"/>
            </a:xfrm>
            <a:custGeom>
              <a:avLst/>
              <a:gdLst/>
              <a:ahLst/>
              <a:cxnLst/>
              <a:rect r="r" b="b" t="t" l="l"/>
              <a:pathLst>
                <a:path h="186544" w="1342646">
                  <a:moveTo>
                    <a:pt x="77452" y="0"/>
                  </a:moveTo>
                  <a:lnTo>
                    <a:pt x="1265195" y="0"/>
                  </a:lnTo>
                  <a:cubicBezTo>
                    <a:pt x="1285736" y="0"/>
                    <a:pt x="1305436" y="8160"/>
                    <a:pt x="1319961" y="22685"/>
                  </a:cubicBezTo>
                  <a:cubicBezTo>
                    <a:pt x="1334486" y="37210"/>
                    <a:pt x="1342646" y="56910"/>
                    <a:pt x="1342646" y="77452"/>
                  </a:cubicBezTo>
                  <a:lnTo>
                    <a:pt x="1342646" y="109092"/>
                  </a:lnTo>
                  <a:cubicBezTo>
                    <a:pt x="1342646" y="151867"/>
                    <a:pt x="1307970" y="186544"/>
                    <a:pt x="1265195" y="186544"/>
                  </a:cubicBezTo>
                  <a:lnTo>
                    <a:pt x="77452" y="186544"/>
                  </a:lnTo>
                  <a:cubicBezTo>
                    <a:pt x="34676" y="186544"/>
                    <a:pt x="0" y="151867"/>
                    <a:pt x="0" y="109092"/>
                  </a:cubicBezTo>
                  <a:lnTo>
                    <a:pt x="0" y="77452"/>
                  </a:lnTo>
                  <a:cubicBezTo>
                    <a:pt x="0" y="34676"/>
                    <a:pt x="34676" y="0"/>
                    <a:pt x="77452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42646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070012" y="2429011"/>
            <a:ext cx="4745279" cy="708283"/>
            <a:chOff x="0" y="0"/>
            <a:chExt cx="1249785" cy="1865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9785" cy="186544"/>
            </a:xfrm>
            <a:custGeom>
              <a:avLst/>
              <a:gdLst/>
              <a:ahLst/>
              <a:cxnLst/>
              <a:rect r="r" b="b" t="t" l="l"/>
              <a:pathLst>
                <a:path h="186544" w="1249785">
                  <a:moveTo>
                    <a:pt x="83206" y="0"/>
                  </a:moveTo>
                  <a:lnTo>
                    <a:pt x="1166579" y="0"/>
                  </a:lnTo>
                  <a:cubicBezTo>
                    <a:pt x="1188647" y="0"/>
                    <a:pt x="1209810" y="8766"/>
                    <a:pt x="1225415" y="24371"/>
                  </a:cubicBezTo>
                  <a:cubicBezTo>
                    <a:pt x="1241019" y="39975"/>
                    <a:pt x="1249785" y="61139"/>
                    <a:pt x="1249785" y="83206"/>
                  </a:cubicBezTo>
                  <a:lnTo>
                    <a:pt x="1249785" y="103337"/>
                  </a:lnTo>
                  <a:cubicBezTo>
                    <a:pt x="1249785" y="149291"/>
                    <a:pt x="1212533" y="186544"/>
                    <a:pt x="1166579" y="186544"/>
                  </a:cubicBezTo>
                  <a:lnTo>
                    <a:pt x="83206" y="186544"/>
                  </a:lnTo>
                  <a:cubicBezTo>
                    <a:pt x="37253" y="186544"/>
                    <a:pt x="0" y="149291"/>
                    <a:pt x="0" y="103337"/>
                  </a:cubicBezTo>
                  <a:lnTo>
                    <a:pt x="0" y="83206"/>
                  </a:lnTo>
                  <a:cubicBezTo>
                    <a:pt x="0" y="37253"/>
                    <a:pt x="37253" y="0"/>
                    <a:pt x="83206" y="0"/>
                  </a:cubicBezTo>
                  <a:close/>
                </a:path>
              </a:pathLst>
            </a:custGeom>
            <a:solidFill>
              <a:srgbClr val="FFEE5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49785" cy="23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217988" y="2802203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>
            <a:off x="11692930" y="2794724"/>
            <a:ext cx="13770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0" y="4361524"/>
            <a:ext cx="6082021" cy="3284563"/>
          </a:xfrm>
          <a:custGeom>
            <a:avLst/>
            <a:gdLst/>
            <a:ahLst/>
            <a:cxnLst/>
            <a:rect r="r" b="b" t="t" l="l"/>
            <a:pathLst>
              <a:path h="3284563" w="6082021">
                <a:moveTo>
                  <a:pt x="0" y="0"/>
                </a:moveTo>
                <a:lnTo>
                  <a:pt x="6082021" y="0"/>
                </a:lnTo>
                <a:lnTo>
                  <a:pt x="6082021" y="3284563"/>
                </a:lnTo>
                <a:lnTo>
                  <a:pt x="0" y="3284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5143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785958" y="4259660"/>
            <a:ext cx="6502042" cy="3571413"/>
          </a:xfrm>
          <a:custGeom>
            <a:avLst/>
            <a:gdLst/>
            <a:ahLst/>
            <a:cxnLst/>
            <a:rect r="r" b="b" t="t" l="l"/>
            <a:pathLst>
              <a:path h="3571413" w="6502042">
                <a:moveTo>
                  <a:pt x="0" y="0"/>
                </a:moveTo>
                <a:lnTo>
                  <a:pt x="6502042" y="0"/>
                </a:lnTo>
                <a:lnTo>
                  <a:pt x="6502042" y="3571413"/>
                </a:lnTo>
                <a:lnTo>
                  <a:pt x="0" y="3571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055" t="0" r="-57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236466" y="4295013"/>
            <a:ext cx="5549491" cy="3536060"/>
          </a:xfrm>
          <a:custGeom>
            <a:avLst/>
            <a:gdLst/>
            <a:ahLst/>
            <a:cxnLst/>
            <a:rect r="r" b="b" t="t" l="l"/>
            <a:pathLst>
              <a:path h="3536060" w="5549491">
                <a:moveTo>
                  <a:pt x="0" y="0"/>
                </a:moveTo>
                <a:lnTo>
                  <a:pt x="5549492" y="0"/>
                </a:lnTo>
                <a:lnTo>
                  <a:pt x="5549492" y="3536060"/>
                </a:lnTo>
                <a:lnTo>
                  <a:pt x="0" y="35360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465" t="0" r="-1539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595070" y="9940291"/>
            <a:ext cx="509786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9267" y="1563271"/>
            <a:ext cx="16301548" cy="589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QDC over noisy channel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0243" y="2470733"/>
            <a:ext cx="403074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Preparation of different entangled channel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90900" y="2556458"/>
            <a:ext cx="462319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Encoding operation of Alice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365287" y="2556458"/>
            <a:ext cx="422552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Bob’s decoding operation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0" y="8023157"/>
            <a:ext cx="18044085" cy="91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6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Heatmap representation of Fidelity vs noise parameter graph for different entangled channel dense coding protocols for respectively bit flip, phase flip and bit-phase flip noise models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7250" y="2727290"/>
            <a:ext cx="17851600" cy="3521775"/>
            <a:chOff x="0" y="0"/>
            <a:chExt cx="4701656" cy="9275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656" cy="927546"/>
            </a:xfrm>
            <a:custGeom>
              <a:avLst/>
              <a:gdLst/>
              <a:ahLst/>
              <a:cxnLst/>
              <a:rect r="r" b="b" t="t" l="l"/>
              <a:pathLst>
                <a:path h="927546" w="4701656">
                  <a:moveTo>
                    <a:pt x="22118" y="0"/>
                  </a:moveTo>
                  <a:lnTo>
                    <a:pt x="4679538" y="0"/>
                  </a:lnTo>
                  <a:cubicBezTo>
                    <a:pt x="4691754" y="0"/>
                    <a:pt x="4701656" y="9902"/>
                    <a:pt x="4701656" y="22118"/>
                  </a:cubicBezTo>
                  <a:lnTo>
                    <a:pt x="4701656" y="905428"/>
                  </a:lnTo>
                  <a:cubicBezTo>
                    <a:pt x="4701656" y="917643"/>
                    <a:pt x="4691754" y="927546"/>
                    <a:pt x="4679538" y="927546"/>
                  </a:cubicBezTo>
                  <a:lnTo>
                    <a:pt x="22118" y="927546"/>
                  </a:lnTo>
                  <a:cubicBezTo>
                    <a:pt x="16252" y="927546"/>
                    <a:pt x="10626" y="925216"/>
                    <a:pt x="6478" y="921068"/>
                  </a:cubicBezTo>
                  <a:cubicBezTo>
                    <a:pt x="2330" y="916920"/>
                    <a:pt x="0" y="911294"/>
                    <a:pt x="0" y="905428"/>
                  </a:cubicBezTo>
                  <a:lnTo>
                    <a:pt x="0" y="22118"/>
                  </a:lnTo>
                  <a:cubicBezTo>
                    <a:pt x="0" y="16252"/>
                    <a:pt x="2330" y="10626"/>
                    <a:pt x="6478" y="6478"/>
                  </a:cubicBezTo>
                  <a:cubicBezTo>
                    <a:pt x="10626" y="2330"/>
                    <a:pt x="16252" y="0"/>
                    <a:pt x="2211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701656" cy="975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7250" y="2593940"/>
            <a:ext cx="17723214" cy="365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7"/>
              </a:lnSpc>
            </a:pPr>
            <a:r>
              <a:rPr lang="en-US" sz="697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Chapter-IV</a:t>
            </a:r>
          </a:p>
          <a:p>
            <a:pPr algn="ctr">
              <a:lnSpc>
                <a:spcPts val="9767"/>
              </a:lnSpc>
              <a:spcBef>
                <a:spcPct val="0"/>
              </a:spcBef>
            </a:pPr>
            <a:r>
              <a:rPr lang="en-US" b="true" sz="697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 of different performance metrics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614120" y="9940291"/>
            <a:ext cx="5097860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355" y="298494"/>
            <a:ext cx="17255731" cy="1051613"/>
            <a:chOff x="0" y="0"/>
            <a:chExt cx="4544719" cy="276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719" cy="276968"/>
            </a:xfrm>
            <a:custGeom>
              <a:avLst/>
              <a:gdLst/>
              <a:ahLst/>
              <a:cxnLst/>
              <a:rect r="r" b="b" t="t" l="l"/>
              <a:pathLst>
                <a:path h="276968" w="4544719">
                  <a:moveTo>
                    <a:pt x="22882" y="0"/>
                  </a:moveTo>
                  <a:lnTo>
                    <a:pt x="4521838" y="0"/>
                  </a:lnTo>
                  <a:cubicBezTo>
                    <a:pt x="4534475" y="0"/>
                    <a:pt x="4544719" y="10244"/>
                    <a:pt x="4544719" y="22882"/>
                  </a:cubicBezTo>
                  <a:lnTo>
                    <a:pt x="4544719" y="254086"/>
                  </a:lnTo>
                  <a:cubicBezTo>
                    <a:pt x="4544719" y="266724"/>
                    <a:pt x="4534475" y="276968"/>
                    <a:pt x="4521838" y="276968"/>
                  </a:cubicBezTo>
                  <a:lnTo>
                    <a:pt x="22882" y="276968"/>
                  </a:lnTo>
                  <a:cubicBezTo>
                    <a:pt x="16813" y="276968"/>
                    <a:pt x="10993" y="274557"/>
                    <a:pt x="6702" y="270266"/>
                  </a:cubicBezTo>
                  <a:cubicBezTo>
                    <a:pt x="2411" y="265975"/>
                    <a:pt x="0" y="260155"/>
                    <a:pt x="0" y="254086"/>
                  </a:cubicBezTo>
                  <a:lnTo>
                    <a:pt x="0" y="22882"/>
                  </a:lnTo>
                  <a:cubicBezTo>
                    <a:pt x="0" y="10244"/>
                    <a:pt x="10244" y="0"/>
                    <a:pt x="2288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44719" cy="324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97128" y="1627721"/>
            <a:ext cx="14658968" cy="2182290"/>
          </a:xfrm>
          <a:custGeom>
            <a:avLst/>
            <a:gdLst/>
            <a:ahLst/>
            <a:cxnLst/>
            <a:rect r="r" b="b" t="t" l="l"/>
            <a:pathLst>
              <a:path h="2182290" w="14658968">
                <a:moveTo>
                  <a:pt x="0" y="0"/>
                </a:moveTo>
                <a:lnTo>
                  <a:pt x="14658967" y="0"/>
                </a:lnTo>
                <a:lnTo>
                  <a:pt x="14658967" y="2182290"/>
                </a:lnTo>
                <a:lnTo>
                  <a:pt x="0" y="2182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90677" y="4086236"/>
            <a:ext cx="10553408" cy="5236763"/>
          </a:xfrm>
          <a:custGeom>
            <a:avLst/>
            <a:gdLst/>
            <a:ahLst/>
            <a:cxnLst/>
            <a:rect r="r" b="b" t="t" l="l"/>
            <a:pathLst>
              <a:path h="5236763" w="10553408">
                <a:moveTo>
                  <a:pt x="0" y="0"/>
                </a:moveTo>
                <a:lnTo>
                  <a:pt x="10553408" y="0"/>
                </a:lnTo>
                <a:lnTo>
                  <a:pt x="10553408" y="5236763"/>
                </a:lnTo>
                <a:lnTo>
                  <a:pt x="0" y="52367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92855" y="4057661"/>
            <a:ext cx="6455556" cy="5265338"/>
          </a:xfrm>
          <a:custGeom>
            <a:avLst/>
            <a:gdLst/>
            <a:ahLst/>
            <a:cxnLst/>
            <a:rect r="r" b="b" t="t" l="l"/>
            <a:pathLst>
              <a:path h="5265338" w="6455556">
                <a:moveTo>
                  <a:pt x="0" y="0"/>
                </a:moveTo>
                <a:lnTo>
                  <a:pt x="6455556" y="0"/>
                </a:lnTo>
                <a:lnTo>
                  <a:pt x="6455556" y="5265338"/>
                </a:lnTo>
                <a:lnTo>
                  <a:pt x="0" y="52653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59515" y="387867"/>
            <a:ext cx="12026503" cy="78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9"/>
              </a:lnSpc>
              <a:spcBef>
                <a:spcPct val="0"/>
              </a:spcBef>
            </a:pP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nalysis of different performance metrics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95070" y="9940291"/>
            <a:ext cx="509786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355" y="298494"/>
            <a:ext cx="17255731" cy="1051613"/>
            <a:chOff x="0" y="0"/>
            <a:chExt cx="4544719" cy="276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719" cy="276968"/>
            </a:xfrm>
            <a:custGeom>
              <a:avLst/>
              <a:gdLst/>
              <a:ahLst/>
              <a:cxnLst/>
              <a:rect r="r" b="b" t="t" l="l"/>
              <a:pathLst>
                <a:path h="276968" w="4544719">
                  <a:moveTo>
                    <a:pt x="22882" y="0"/>
                  </a:moveTo>
                  <a:lnTo>
                    <a:pt x="4521838" y="0"/>
                  </a:lnTo>
                  <a:cubicBezTo>
                    <a:pt x="4534475" y="0"/>
                    <a:pt x="4544719" y="10244"/>
                    <a:pt x="4544719" y="22882"/>
                  </a:cubicBezTo>
                  <a:lnTo>
                    <a:pt x="4544719" y="254086"/>
                  </a:lnTo>
                  <a:cubicBezTo>
                    <a:pt x="4544719" y="266724"/>
                    <a:pt x="4534475" y="276968"/>
                    <a:pt x="4521838" y="276968"/>
                  </a:cubicBezTo>
                  <a:lnTo>
                    <a:pt x="22882" y="276968"/>
                  </a:lnTo>
                  <a:cubicBezTo>
                    <a:pt x="16813" y="276968"/>
                    <a:pt x="10993" y="274557"/>
                    <a:pt x="6702" y="270266"/>
                  </a:cubicBezTo>
                  <a:cubicBezTo>
                    <a:pt x="2411" y="265975"/>
                    <a:pt x="0" y="260155"/>
                    <a:pt x="0" y="254086"/>
                  </a:cubicBezTo>
                  <a:lnTo>
                    <a:pt x="0" y="22882"/>
                  </a:lnTo>
                  <a:cubicBezTo>
                    <a:pt x="0" y="10244"/>
                    <a:pt x="10244" y="0"/>
                    <a:pt x="2288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44719" cy="324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43128" y="8953438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956095" y="956468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9901" y="1446432"/>
            <a:ext cx="8924099" cy="4208578"/>
          </a:xfrm>
          <a:custGeom>
            <a:avLst/>
            <a:gdLst/>
            <a:ahLst/>
            <a:cxnLst/>
            <a:rect r="r" b="b" t="t" l="l"/>
            <a:pathLst>
              <a:path h="4208578" w="8924099">
                <a:moveTo>
                  <a:pt x="0" y="0"/>
                </a:moveTo>
                <a:lnTo>
                  <a:pt x="8924099" y="0"/>
                </a:lnTo>
                <a:lnTo>
                  <a:pt x="8924099" y="4208579"/>
                </a:lnTo>
                <a:lnTo>
                  <a:pt x="0" y="42085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062690" y="5524772"/>
            <a:ext cx="8162620" cy="3849467"/>
          </a:xfrm>
          <a:custGeom>
            <a:avLst/>
            <a:gdLst/>
            <a:ahLst/>
            <a:cxnLst/>
            <a:rect r="r" b="b" t="t" l="l"/>
            <a:pathLst>
              <a:path h="3849467" w="8162620">
                <a:moveTo>
                  <a:pt x="0" y="0"/>
                </a:moveTo>
                <a:lnTo>
                  <a:pt x="8162620" y="0"/>
                </a:lnTo>
                <a:lnTo>
                  <a:pt x="8162620" y="3849467"/>
                </a:lnTo>
                <a:lnTo>
                  <a:pt x="0" y="3849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1330024"/>
            <a:ext cx="8894770" cy="4194747"/>
          </a:xfrm>
          <a:custGeom>
            <a:avLst/>
            <a:gdLst/>
            <a:ahLst/>
            <a:cxnLst/>
            <a:rect r="r" b="b" t="t" l="l"/>
            <a:pathLst>
              <a:path h="4194747" w="8894770">
                <a:moveTo>
                  <a:pt x="0" y="0"/>
                </a:moveTo>
                <a:lnTo>
                  <a:pt x="8894770" y="0"/>
                </a:lnTo>
                <a:lnTo>
                  <a:pt x="8894770" y="4194748"/>
                </a:lnTo>
                <a:lnTo>
                  <a:pt x="0" y="41947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59515" y="387867"/>
            <a:ext cx="12026503" cy="78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9"/>
              </a:lnSpc>
              <a:spcBef>
                <a:spcPct val="0"/>
              </a:spcBef>
            </a:pP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463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nalysis of different performance metrics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95070" y="9940291"/>
            <a:ext cx="509786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114040" y="9431389"/>
            <a:ext cx="18516080" cy="36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QBER performance for respectively bit flip, phase flip and bit phase flip noise in quantum dense coding using different entangled states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7820" y="635686"/>
            <a:ext cx="14935308" cy="1487445"/>
            <a:chOff x="0" y="0"/>
            <a:chExt cx="3933579" cy="3917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3579" cy="391755"/>
            </a:xfrm>
            <a:custGeom>
              <a:avLst/>
              <a:gdLst/>
              <a:ahLst/>
              <a:cxnLst/>
              <a:rect r="r" b="b" t="t" l="l"/>
              <a:pathLst>
                <a:path h="391755" w="3933579">
                  <a:moveTo>
                    <a:pt x="26437" y="0"/>
                  </a:moveTo>
                  <a:lnTo>
                    <a:pt x="3907143" y="0"/>
                  </a:lnTo>
                  <a:cubicBezTo>
                    <a:pt x="3914154" y="0"/>
                    <a:pt x="3920878" y="2785"/>
                    <a:pt x="3925836" y="7743"/>
                  </a:cubicBezTo>
                  <a:cubicBezTo>
                    <a:pt x="3930794" y="12701"/>
                    <a:pt x="3933579" y="19425"/>
                    <a:pt x="3933579" y="26437"/>
                  </a:cubicBezTo>
                  <a:lnTo>
                    <a:pt x="3933579" y="365318"/>
                  </a:lnTo>
                  <a:cubicBezTo>
                    <a:pt x="3933579" y="379919"/>
                    <a:pt x="3921743" y="391755"/>
                    <a:pt x="3907143" y="391755"/>
                  </a:cubicBezTo>
                  <a:lnTo>
                    <a:pt x="26437" y="391755"/>
                  </a:lnTo>
                  <a:cubicBezTo>
                    <a:pt x="11836" y="391755"/>
                    <a:pt x="0" y="379919"/>
                    <a:pt x="0" y="365318"/>
                  </a:cubicBezTo>
                  <a:lnTo>
                    <a:pt x="0" y="26437"/>
                  </a:lnTo>
                  <a:cubicBezTo>
                    <a:pt x="0" y="11836"/>
                    <a:pt x="11836" y="0"/>
                    <a:pt x="2643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3933579" cy="487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79"/>
                </a:lnSpc>
              </a:pPr>
              <a:r>
                <a:rPr lang="en-US" sz="51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Discussions &amp; Conclusion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84167" y="9190685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14120" y="9940291"/>
            <a:ext cx="5097860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1491" y="2260920"/>
            <a:ext cx="17471942" cy="8074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192" indent="-261096" lvl="1">
              <a:lnSpc>
                <a:spcPts val="3386"/>
              </a:lnSpc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Foun</a:t>
            </a: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that protocols with higher communication capacity require deeper quantum circuits and a larger number of quantum gates.</a:t>
            </a:r>
          </a:p>
          <a:p>
            <a:pPr algn="l" marL="522192" indent="-261096" lvl="1">
              <a:lnSpc>
                <a:spcPts val="3386"/>
              </a:lnSpc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Confirmed excellent agreement between analytical derivations and simulation results for all dense coding protocols studied.</a:t>
            </a:r>
          </a:p>
          <a:p>
            <a:pPr algn="l" marL="522192" indent="-261096" lvl="1">
              <a:lnSpc>
                <a:spcPts val="3386"/>
              </a:lnSpc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Established that maximally entangled quantum states provide a reliable and deterministic resource for quantum dense coding.</a:t>
            </a:r>
          </a:p>
          <a:p>
            <a:pPr algn="l" marL="522192" indent="-261096" lvl="1">
              <a:lnSpc>
                <a:spcPts val="3386"/>
              </a:lnSpc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Evaluated the performance of different QDC protocols under bit-flip, phase-flip, and bit-phase-flip noisy quantum channels.</a:t>
            </a:r>
          </a:p>
          <a:p>
            <a:pPr algn="l" marL="522192" indent="-261096" lvl="1">
              <a:lnSpc>
                <a:spcPts val="3386"/>
              </a:lnSpc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Showed that the Bell-state QDC protocol exhibits the highest state fidelity under bit-flip and bit-phase-flip noise models.</a:t>
            </a:r>
          </a:p>
          <a:p>
            <a:pPr algn="l" marL="522192" indent="-261096" lvl="1">
              <a:lnSpc>
                <a:spcPts val="3386"/>
              </a:lnSpc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Found that the three-qubit GHZ-state and four- and five-qubit cluster-state protocols demonstrate superior performance under the phase-flip noise model.</a:t>
            </a:r>
          </a:p>
          <a:p>
            <a:pPr algn="l" marL="522192" indent="-261096" lvl="1">
              <a:lnSpc>
                <a:spcPts val="3386"/>
              </a:lnSpc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Observed that increasing circuit depth makes dense coding protocols more vulnerable to hardware-induced noise in practical quantum processors.</a:t>
            </a:r>
          </a:p>
          <a:p>
            <a:pPr algn="l" marL="522192" indent="-261096" lvl="1">
              <a:lnSpc>
                <a:spcPts val="3386"/>
              </a:lnSpc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Identified that the Bell-state QDC circuit possesses the shallowest circuit depth, whereas cluster-state protocols generally require deeper quantum circuits.</a:t>
            </a:r>
          </a:p>
          <a:p>
            <a:pPr algn="l" marL="522192" indent="-261096" lvl="1">
              <a:lnSpc>
                <a:spcPts val="3386"/>
              </a:lnSpc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Demonstrated that the quantum cost increases with both the number of qubits and the gate complexity of the protocol.</a:t>
            </a:r>
          </a:p>
          <a:p>
            <a:pPr algn="l">
              <a:lnSpc>
                <a:spcPts val="3386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7820" y="635686"/>
            <a:ext cx="14935308" cy="1487445"/>
            <a:chOff x="0" y="0"/>
            <a:chExt cx="3933579" cy="3917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3579" cy="391755"/>
            </a:xfrm>
            <a:custGeom>
              <a:avLst/>
              <a:gdLst/>
              <a:ahLst/>
              <a:cxnLst/>
              <a:rect r="r" b="b" t="t" l="l"/>
              <a:pathLst>
                <a:path h="391755" w="3933579">
                  <a:moveTo>
                    <a:pt x="26437" y="0"/>
                  </a:moveTo>
                  <a:lnTo>
                    <a:pt x="3907143" y="0"/>
                  </a:lnTo>
                  <a:cubicBezTo>
                    <a:pt x="3914154" y="0"/>
                    <a:pt x="3920878" y="2785"/>
                    <a:pt x="3925836" y="7743"/>
                  </a:cubicBezTo>
                  <a:cubicBezTo>
                    <a:pt x="3930794" y="12701"/>
                    <a:pt x="3933579" y="19425"/>
                    <a:pt x="3933579" y="26437"/>
                  </a:cubicBezTo>
                  <a:lnTo>
                    <a:pt x="3933579" y="365318"/>
                  </a:lnTo>
                  <a:cubicBezTo>
                    <a:pt x="3933579" y="379919"/>
                    <a:pt x="3921743" y="391755"/>
                    <a:pt x="3907143" y="391755"/>
                  </a:cubicBezTo>
                  <a:lnTo>
                    <a:pt x="26437" y="391755"/>
                  </a:lnTo>
                  <a:cubicBezTo>
                    <a:pt x="11836" y="391755"/>
                    <a:pt x="0" y="379919"/>
                    <a:pt x="0" y="365318"/>
                  </a:cubicBezTo>
                  <a:lnTo>
                    <a:pt x="0" y="26437"/>
                  </a:lnTo>
                  <a:cubicBezTo>
                    <a:pt x="0" y="11836"/>
                    <a:pt x="11836" y="0"/>
                    <a:pt x="2643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3933579" cy="487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79"/>
                </a:lnSpc>
              </a:pPr>
              <a:r>
                <a:rPr lang="en-US" sz="51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Future scopes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84167" y="9190685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14120" y="9940291"/>
            <a:ext cx="5097860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4783" y="2463314"/>
            <a:ext cx="16841383" cy="711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8689" indent="-274345" lvl="1">
              <a:lnSpc>
                <a:spcPts val="3557"/>
              </a:lnSpc>
              <a:buFont typeface="Arial"/>
              <a:buChar char="•"/>
            </a:pPr>
            <a:r>
              <a:rPr lang="en-US" sz="25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Investigate the performance of quantum dense coding protocols under additional noise models, such as amplitude damping, phase damping, and depolarizing channels.</a:t>
            </a:r>
          </a:p>
          <a:p>
            <a:pPr algn="just" marL="548689" indent="-274345" lvl="1">
              <a:lnSpc>
                <a:spcPts val="3557"/>
              </a:lnSpc>
              <a:buFont typeface="Arial"/>
              <a:buChar char="•"/>
            </a:pPr>
            <a:r>
              <a:rPr lang="en-US" sz="25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Explore dense coding protocols using other multipartite entangled states, including Brown et al. states, Borrás et al. states, graph states, Dicke states, and hypergraph states.</a:t>
            </a:r>
          </a:p>
          <a:p>
            <a:pPr algn="just" marL="548689" indent="-274345" lvl="1">
              <a:lnSpc>
                <a:spcPts val="3557"/>
              </a:lnSpc>
              <a:buFont typeface="Arial"/>
              <a:buChar char="•"/>
            </a:pPr>
            <a:r>
              <a:rPr lang="en-US" sz="25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 dense coding protocols with reduced gate complexity while maintaining deterministic information transmission to improve robustness against noise.</a:t>
            </a:r>
          </a:p>
          <a:p>
            <a:pPr algn="just" marL="548689" indent="-274345" lvl="1">
              <a:lnSpc>
                <a:spcPts val="3557"/>
              </a:lnSpc>
              <a:buFont typeface="Arial"/>
              <a:buChar char="•"/>
            </a:pPr>
            <a:r>
              <a:rPr lang="en-US" sz="25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Incorporate quantum error correction (QEC) and quantum error mitigation (QEM) techniques to enhance transmission reliability and reduce errors.</a:t>
            </a:r>
          </a:p>
          <a:p>
            <a:pPr algn="just" marL="548689" indent="-274345" lvl="1">
              <a:lnSpc>
                <a:spcPts val="3557"/>
              </a:lnSpc>
              <a:buFont typeface="Arial"/>
              <a:buChar char="•"/>
            </a:pPr>
            <a:r>
              <a:rPr lang="en-US" sz="25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Extend existing protocols to large-scale quantum communication networks for practical distributed quantum communication.</a:t>
            </a:r>
          </a:p>
          <a:p>
            <a:pPr algn="just" marL="548689" indent="-274345" lvl="1">
              <a:lnSpc>
                <a:spcPts val="3557"/>
              </a:lnSpc>
              <a:buFont typeface="Arial"/>
              <a:buChar char="•"/>
            </a:pPr>
            <a:r>
              <a:rPr lang="en-US" sz="25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Investigate higher-dimensional (qudit-based) dense coding protocols to achieve improved communication capacity and resource efficiency.</a:t>
            </a:r>
          </a:p>
          <a:p>
            <a:pPr algn="just" marL="548689" indent="-274345" lvl="1">
              <a:lnSpc>
                <a:spcPts val="3557"/>
              </a:lnSpc>
              <a:buFont typeface="Arial"/>
              <a:buChar char="•"/>
            </a:pPr>
            <a:r>
              <a:rPr lang="en-US" sz="25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Evaluate the practical feasibility of these protocols on near-term and future quantum hardware, considering realistic device constraints.</a:t>
            </a:r>
          </a:p>
          <a:p>
            <a:pPr algn="just" marL="548689" indent="-274345" lvl="1">
              <a:lnSpc>
                <a:spcPts val="3557"/>
              </a:lnSpc>
              <a:buFont typeface="Arial"/>
              <a:buChar char="•"/>
            </a:pPr>
            <a:r>
              <a:rPr lang="en-US" sz="25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more noise-resilient and hardware-efficient dense coding schemes suitable for scalable quantum communication applications.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7820" y="635686"/>
            <a:ext cx="14935308" cy="1487445"/>
            <a:chOff x="0" y="0"/>
            <a:chExt cx="3933579" cy="3917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3579" cy="391755"/>
            </a:xfrm>
            <a:custGeom>
              <a:avLst/>
              <a:gdLst/>
              <a:ahLst/>
              <a:cxnLst/>
              <a:rect r="r" b="b" t="t" l="l"/>
              <a:pathLst>
                <a:path h="391755" w="3933579">
                  <a:moveTo>
                    <a:pt x="26437" y="0"/>
                  </a:moveTo>
                  <a:lnTo>
                    <a:pt x="3907143" y="0"/>
                  </a:lnTo>
                  <a:cubicBezTo>
                    <a:pt x="3914154" y="0"/>
                    <a:pt x="3920878" y="2785"/>
                    <a:pt x="3925836" y="7743"/>
                  </a:cubicBezTo>
                  <a:cubicBezTo>
                    <a:pt x="3930794" y="12701"/>
                    <a:pt x="3933579" y="19425"/>
                    <a:pt x="3933579" y="26437"/>
                  </a:cubicBezTo>
                  <a:lnTo>
                    <a:pt x="3933579" y="365318"/>
                  </a:lnTo>
                  <a:cubicBezTo>
                    <a:pt x="3933579" y="379919"/>
                    <a:pt x="3921743" y="391755"/>
                    <a:pt x="3907143" y="391755"/>
                  </a:cubicBezTo>
                  <a:lnTo>
                    <a:pt x="26437" y="391755"/>
                  </a:lnTo>
                  <a:cubicBezTo>
                    <a:pt x="11836" y="391755"/>
                    <a:pt x="0" y="379919"/>
                    <a:pt x="0" y="365318"/>
                  </a:cubicBezTo>
                  <a:lnTo>
                    <a:pt x="0" y="26437"/>
                  </a:lnTo>
                  <a:cubicBezTo>
                    <a:pt x="0" y="11836"/>
                    <a:pt x="11836" y="0"/>
                    <a:pt x="2643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3933579" cy="487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79"/>
                </a:lnSpc>
              </a:pPr>
              <a:r>
                <a:rPr lang="en-US" sz="51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References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84167" y="9190685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14120" y="9940291"/>
            <a:ext cx="5097860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2082" y="2307405"/>
            <a:ext cx="16697218" cy="7439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[1] M. A. Nielsen and I. L. Chuang, Quantum Computation and Quantum Information. Cambridge University Press, 2010.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[2] A. Pathak, Elements of Quantum Computation and Quantum Communication. CRC Press, Boca Raton, FL, 2013.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[3] C. H. Bennett and S. J. Wiesner, "Communication via One- and Two-Particle Operators on Einstein-Podolsky-Rosen States," Physical Review Letters, vol. 69, no. 20, pp. 2881–2884, 1992.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[4] A. K. Ekert, "Quantum Cryptography Based on Bell's Theorem," Physical Review Letters, vol. 67, no. 6, pp. 661–663, 1991.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[5] C. H. Bennett and S. J. Wiesner, "Dense Coding via Quantum Entanglement," Physical Review Letters, vol. 69, p. 2881, 1992. (Duplicate of [3])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[6] C. H. Bennett, G. Brassard, C. Crépeau, R. Jozsa, A. Peres, and W. K. Wootters, "Teleporting an Unknown Quantum State via Dual Classical and Einstein-Podolsky-Rosen Channels," Physical Review Letters, vol. 70, pp. 1895–1899, 1993.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[7] C. H. Bennett and A. K. Ekert, "Dense Coding Based on Quantum Entanglement," Department of Physics, University of Oxford, 1994.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[8] R. Horodecki, P. Horodecki, M. Horodecki, and K. Horodecki, "Quantum Entanglement," Reviews of Modern Physics, vol. 81, pp. 865–942, 2009.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[9] S. Das, T. Chanda, M. Lewenstein, A. Sanpera, A. Sen(De), and U. Sen, "The Separability versus Entanglement Problem," arXiv preprint, 2017.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[10] C. H. Bennett and S. J. Wiesner, "Communication via One- and Two-Particle Operators on Einstein-Podolsky-Rosen States," Physical Review Letters, vol. 69, pp. 2881–2884, 1992. (Duplicate of [3])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[11] M. A. Nielsen and I. L. Chuang, Quantum Computation and Quantum Information. Cambridge University Press, Cambridge, UK, 2010. (Duplicate of [1])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[12] X. Tan, X. Li, and P. Yang, "Perfect Quantum Teleportation via Bell States," Computers, Materials &amp; Continua, vol. 57, no. 3, pp. 495–503, 2018.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[13] S. Ghosh, G. Kar, A. Roy, D. Sarkar, and U. Sen, "Entanglement Teleportation through GHZ-Class States," New Journal of Physics, vol. 4, pp. 48.1–48.9, 2002.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[14] J. Joo, Y.-J. Park, S. Oh, and J. Kim, "Quantum Teleportation via a W State," New Journal of Physics, vol. 5, p. 136, 2003.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[15] A. Pandey, "Quantum Teleportation Using W-Bell and Bell-GHZ Channels," International Journal of Engineering, Science and Mathematics, vol. 13, Aug. 2024.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7820" y="635686"/>
            <a:ext cx="14935308" cy="1487445"/>
            <a:chOff x="0" y="0"/>
            <a:chExt cx="3933579" cy="3917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33579" cy="391755"/>
            </a:xfrm>
            <a:custGeom>
              <a:avLst/>
              <a:gdLst/>
              <a:ahLst/>
              <a:cxnLst/>
              <a:rect r="r" b="b" t="t" l="l"/>
              <a:pathLst>
                <a:path h="391755" w="3933579">
                  <a:moveTo>
                    <a:pt x="26437" y="0"/>
                  </a:moveTo>
                  <a:lnTo>
                    <a:pt x="3907143" y="0"/>
                  </a:lnTo>
                  <a:cubicBezTo>
                    <a:pt x="3914154" y="0"/>
                    <a:pt x="3920878" y="2785"/>
                    <a:pt x="3925836" y="7743"/>
                  </a:cubicBezTo>
                  <a:cubicBezTo>
                    <a:pt x="3930794" y="12701"/>
                    <a:pt x="3933579" y="19425"/>
                    <a:pt x="3933579" y="26437"/>
                  </a:cubicBezTo>
                  <a:lnTo>
                    <a:pt x="3933579" y="365318"/>
                  </a:lnTo>
                  <a:cubicBezTo>
                    <a:pt x="3933579" y="379919"/>
                    <a:pt x="3921743" y="391755"/>
                    <a:pt x="3907143" y="391755"/>
                  </a:cubicBezTo>
                  <a:lnTo>
                    <a:pt x="26437" y="391755"/>
                  </a:lnTo>
                  <a:cubicBezTo>
                    <a:pt x="11836" y="391755"/>
                    <a:pt x="0" y="379919"/>
                    <a:pt x="0" y="365318"/>
                  </a:cubicBezTo>
                  <a:lnTo>
                    <a:pt x="0" y="26437"/>
                  </a:lnTo>
                  <a:cubicBezTo>
                    <a:pt x="0" y="11836"/>
                    <a:pt x="11836" y="0"/>
                    <a:pt x="2643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3933579" cy="487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79"/>
                </a:lnSpc>
              </a:pPr>
              <a:r>
                <a:rPr lang="en-US" sz="51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References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02233" y="-202505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289267" y="-1612092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84167" y="9190685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14120" y="9940291"/>
            <a:ext cx="5097860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>
                    <a:alpha val="4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©Rangan Chakrabarty, Jadavpur University,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2082" y="2307405"/>
            <a:ext cx="16697218" cy="7439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[16] M. Anagha, A. Mohan, T. Muruganandan, B. K. Behera, and P. K. Panigrahi, "A New Scheme of Quantum Teleportation Using Highly Entangled Brown et al. State: An IBM Quantum Experience," Quantum Information Processing, vol. 19, p. 147, 2020.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[17] D. Singh, S. Kumar, and B. K. Behera, "Complexity Analysis of Quantum Teleportation via Different Entangled Channels in the Presence of Noise," IET Quantum Communication, vol. 3, no. 4, pp. 166–176, 2022.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[18] M. Sisodia, A. Shukla, K. Thapliyal, and A. Pathak, "Design and Experimental Realization of an Optimal Scheme for Teleportation of an n-Qubit Quantum State," arXiv preprint, 2017.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[19] A. S. Cacciapuoti, M. Caleffi, R. Van Meter, and L. Hanzo, "When Entanglement Meets Classical Communications: Quantum Teleportation for the Quantum Internet," IEEE Transactions on Communications, vol. 68, no. 6, pp. 3808–3833, 2020.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[20] H.-J. Briegel, W. Dür, J. I. Cirac, and P. Zoller, "Quantum Repeaters: The Role of Imperfect Local Operations in Quantum Communication," Physical Review Letters, vol. 81, no. 26, pp. 5932–5935, 1998.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[21] K. Mattle, H. Weinfurter, P. G. Kwiat, and A. Zeilinger, "Dense Coding in Experimental Quantum Communication," Physical Review Letters, vol. 76, pp. 4656–4659, 1996.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[22] S. Bose, V. Vedral, and P. L. Knight, "Multiparticle Generalization of Quantum Dense Coding," Physical Review A, vol. 57, pp. 822–829, 1998.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[23] J.-C. Hao et al., "Controlled Dense Coding Using a Four-Particle GHZ State," Physical Review A, vol. 63, p. 054301, 2001.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[24] S. Muralidharan and P. K. Panigrahi, "Perfect Teleportation, Quantum State Sharing and Superdense Coding Through a Genuinely Entangled Five-Qubit State," Physical Review A, vol. 77, no. 3, p. 032321, 2008.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[25] D. Saha and P. K. Panigrahi, "N-Qubit Quantum Teleportation, Information Splitting and Superdense Coding Through the Composite GHZ-Bell Channel," arXiv preprint, 2011.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[26] H.-J. Briegel and R. Raussendorf, "Persistent Entanglement in Arrays of Interacting Particles," Physical Review Letters, vol. 86, pp. 910–913, 2001.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[27] R. Raussendorf and H.-J. Briegel, "A One-Way Quantum Computer," Physical Review Letters, vol. 86, pp. 5188–5191, 2001.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[28] J. Preskill, Quantum Computing Lecture Notes, 2018.</a:t>
            </a:r>
          </a:p>
          <a:p>
            <a:pPr algn="l" marL="404293" indent="-202146" lvl="1">
              <a:lnSpc>
                <a:spcPts val="2621"/>
              </a:lnSpc>
              <a:buFont typeface="Arial"/>
              <a:buChar char="•"/>
            </a:pPr>
            <a:r>
              <a:rPr lang="en-US" sz="18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[29] IBM Quantum, "Qiskit Documentation," 2023. </a:t>
            </a:r>
            <a:r>
              <a:rPr lang="en-US" sz="1872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qiskit.org"/>
              </a:rPr>
              <a:t>https://qiskit.org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013131" y="3908425"/>
            <a:ext cx="10261737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b="true" sz="12999">
                <a:solidFill>
                  <a:srgbClr val="B3020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DAHQ4jB3HIM</dc:identifier>
  <dcterms:modified xsi:type="dcterms:W3CDTF">2011-08-01T06:04:30Z</dcterms:modified>
  <cp:revision>1</cp:revision>
  <dc:title>Summer Internship IISER bhopal</dc:title>
</cp:coreProperties>
</file>